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lIns="36000" rIns="36000" tIns="18000" bIns="18000" anchor="t">
            <a:spAutoFit/>
          </a:bodyPr>
          <a:lstStyle/>
          <a:p>
            <a:pPr algn="l"/>
            <a:r>
              <a:rPr sz="2800" b="1">
                <a:solidFill>
                  <a:srgbClr val="00E5FF"/>
                </a:solidFill>
                <a:latin typeface="Yu Gothic UI"/>
              </a:rPr>
              <a:t>WEB3 NEWS DIGEST  /  2026-05-07 → 2026-05-18</a:t>
            </a:r>
          </a:p>
        </p:txBody>
      </p:sp>
      <p:sp>
        <p:nvSpPr>
          <p:cNvPr id="5" name="TextBox 4"/>
          <p:cNvSpPr txBox="1"/>
          <p:nvPr/>
        </p:nvSpPr>
        <p:spPr>
          <a:xfrm>
            <a:off x="457200" y="594360"/>
            <a:ext cx="10972800" cy="365760"/>
          </a:xfrm>
          <a:prstGeom prst="rect">
            <a:avLst/>
          </a:prstGeom>
          <a:noFill/>
        </p:spPr>
        <p:txBody>
          <a:bodyPr wrap="square" lIns="36000" rIns="36000" tIns="18000" bIns="18000" anchor="t">
            <a:spAutoFit/>
          </a:bodyPr>
          <a:lstStyle/>
          <a:p>
            <a:pPr algn="l"/>
            <a:r>
              <a:rPr sz="1400" b="0">
                <a:solidFill>
                  <a:srgbClr val="9AA8C4"/>
                </a:solidFill>
                <a:latin typeface="Yu Gothic UI"/>
              </a:rPr>
              <a:t>暗号資産・ブロックチェーン業界 12日間の総まとめ ─ デイリーレポート</a:t>
            </a:r>
          </a:p>
        </p:txBody>
      </p:sp>
      <p:sp>
        <p:nvSpPr>
          <p:cNvPr id="6" name="Rectangle 5"/>
          <p:cNvSpPr/>
          <p:nvPr/>
        </p:nvSpPr>
        <p:spPr>
          <a:xfrm>
            <a:off x="457200" y="1234440"/>
            <a:ext cx="2651760" cy="9601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234440"/>
            <a:ext cx="109728" cy="9601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07592"/>
            <a:ext cx="2651760" cy="320040"/>
          </a:xfrm>
          <a:prstGeom prst="rect">
            <a:avLst/>
          </a:prstGeom>
          <a:noFill/>
        </p:spPr>
        <p:txBody>
          <a:bodyPr wrap="square" lIns="36000" rIns="36000" tIns="18000" bIns="18000" anchor="t">
            <a:spAutoFit/>
          </a:bodyPr>
          <a:lstStyle/>
          <a:p>
            <a:pPr algn="l"/>
            <a:r>
              <a:rPr sz="1100" b="0">
                <a:solidFill>
                  <a:srgbClr val="9AA8C4"/>
                </a:solidFill>
                <a:latin typeface="Yu Gothic UI"/>
              </a:rPr>
              <a:t>収録日数</a:t>
            </a:r>
          </a:p>
        </p:txBody>
      </p:sp>
      <p:sp>
        <p:nvSpPr>
          <p:cNvPr id="9" name="TextBox 8"/>
          <p:cNvSpPr txBox="1"/>
          <p:nvPr/>
        </p:nvSpPr>
        <p:spPr>
          <a:xfrm>
            <a:off x="685800" y="1600200"/>
            <a:ext cx="2651760" cy="594360"/>
          </a:xfrm>
          <a:prstGeom prst="rect">
            <a:avLst/>
          </a:prstGeom>
          <a:noFill/>
        </p:spPr>
        <p:txBody>
          <a:bodyPr wrap="square" lIns="36000" rIns="36000" tIns="18000" bIns="18000" anchor="t">
            <a:spAutoFit/>
          </a:bodyPr>
          <a:lstStyle/>
          <a:p>
            <a:pPr algn="l"/>
            <a:r>
              <a:rPr sz="2400" b="1">
                <a:solidFill>
                  <a:srgbClr val="00E5FF"/>
                </a:solidFill>
                <a:latin typeface="Yu Gothic UI"/>
              </a:rPr>
              <a:t>12 日</a:t>
            </a:r>
          </a:p>
        </p:txBody>
      </p:sp>
      <p:sp>
        <p:nvSpPr>
          <p:cNvPr id="10" name="Rectangle 9"/>
          <p:cNvSpPr/>
          <p:nvPr/>
        </p:nvSpPr>
        <p:spPr>
          <a:xfrm>
            <a:off x="3291840" y="1234440"/>
            <a:ext cx="2651760" cy="9601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1840" y="1234440"/>
            <a:ext cx="109728"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307592"/>
            <a:ext cx="2651760" cy="320040"/>
          </a:xfrm>
          <a:prstGeom prst="rect">
            <a:avLst/>
          </a:prstGeom>
          <a:noFill/>
        </p:spPr>
        <p:txBody>
          <a:bodyPr wrap="square" lIns="36000" rIns="36000" tIns="18000" bIns="18000" anchor="t">
            <a:spAutoFit/>
          </a:bodyPr>
          <a:lstStyle/>
          <a:p>
            <a:pPr algn="l"/>
            <a:r>
              <a:rPr sz="1100" b="0">
                <a:solidFill>
                  <a:srgbClr val="9AA8C4"/>
                </a:solidFill>
                <a:latin typeface="Yu Gothic UI"/>
              </a:rPr>
              <a:t>総記事数</a:t>
            </a:r>
          </a:p>
        </p:txBody>
      </p:sp>
      <p:sp>
        <p:nvSpPr>
          <p:cNvPr id="13" name="TextBox 12"/>
          <p:cNvSpPr txBox="1"/>
          <p:nvPr/>
        </p:nvSpPr>
        <p:spPr>
          <a:xfrm>
            <a:off x="3520440" y="1600200"/>
            <a:ext cx="2651760" cy="594360"/>
          </a:xfrm>
          <a:prstGeom prst="rect">
            <a:avLst/>
          </a:prstGeom>
          <a:noFill/>
        </p:spPr>
        <p:txBody>
          <a:bodyPr wrap="square" lIns="36000" rIns="36000" tIns="18000" bIns="18000" anchor="t">
            <a:spAutoFit/>
          </a:bodyPr>
          <a:lstStyle/>
          <a:p>
            <a:pPr algn="l"/>
            <a:r>
              <a:rPr sz="2400" b="1">
                <a:solidFill>
                  <a:srgbClr val="4AE3A3"/>
                </a:solidFill>
                <a:latin typeface="Yu Gothic UI"/>
              </a:rPr>
              <a:t>3,389 本</a:t>
            </a:r>
          </a:p>
        </p:txBody>
      </p:sp>
      <p:sp>
        <p:nvSpPr>
          <p:cNvPr id="14" name="Rectangle 13"/>
          <p:cNvSpPr/>
          <p:nvPr/>
        </p:nvSpPr>
        <p:spPr>
          <a:xfrm>
            <a:off x="6126480" y="1234440"/>
            <a:ext cx="2651760" cy="9601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234440"/>
            <a:ext cx="109728" cy="960120"/>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307592"/>
            <a:ext cx="2651760" cy="320040"/>
          </a:xfrm>
          <a:prstGeom prst="rect">
            <a:avLst/>
          </a:prstGeom>
          <a:noFill/>
        </p:spPr>
        <p:txBody>
          <a:bodyPr wrap="square" lIns="36000" rIns="36000" tIns="18000" bIns="18000" anchor="t">
            <a:spAutoFit/>
          </a:bodyPr>
          <a:lstStyle/>
          <a:p>
            <a:pPr algn="l"/>
            <a:r>
              <a:rPr sz="1100" b="0">
                <a:solidFill>
                  <a:srgbClr val="9AA8C4"/>
                </a:solidFill>
                <a:latin typeface="Yu Gothic UI"/>
              </a:rPr>
              <a:t>国内</a:t>
            </a:r>
          </a:p>
        </p:txBody>
      </p:sp>
      <p:sp>
        <p:nvSpPr>
          <p:cNvPr id="17" name="TextBox 16"/>
          <p:cNvSpPr txBox="1"/>
          <p:nvPr/>
        </p:nvSpPr>
        <p:spPr>
          <a:xfrm>
            <a:off x="6355080" y="1600200"/>
            <a:ext cx="2651760" cy="594360"/>
          </a:xfrm>
          <a:prstGeom prst="rect">
            <a:avLst/>
          </a:prstGeom>
          <a:noFill/>
        </p:spPr>
        <p:txBody>
          <a:bodyPr wrap="square" lIns="36000" rIns="36000" tIns="18000" bIns="18000" anchor="t">
            <a:spAutoFit/>
          </a:bodyPr>
          <a:lstStyle/>
          <a:p>
            <a:pPr algn="l"/>
            <a:r>
              <a:rPr sz="2400" b="1">
                <a:solidFill>
                  <a:srgbClr val="6E8BFF"/>
                </a:solidFill>
                <a:latin typeface="Yu Gothic UI"/>
              </a:rPr>
              <a:t>641 本</a:t>
            </a:r>
          </a:p>
        </p:txBody>
      </p:sp>
      <p:sp>
        <p:nvSpPr>
          <p:cNvPr id="18" name="Rectangle 17"/>
          <p:cNvSpPr/>
          <p:nvPr/>
        </p:nvSpPr>
        <p:spPr>
          <a:xfrm>
            <a:off x="8961120" y="1234440"/>
            <a:ext cx="2651760" cy="9601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234440"/>
            <a:ext cx="109728"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1307592"/>
            <a:ext cx="2651760" cy="320040"/>
          </a:xfrm>
          <a:prstGeom prst="rect">
            <a:avLst/>
          </a:prstGeom>
          <a:noFill/>
        </p:spPr>
        <p:txBody>
          <a:bodyPr wrap="square" lIns="36000" rIns="36000" tIns="18000" bIns="18000" anchor="t">
            <a:spAutoFit/>
          </a:bodyPr>
          <a:lstStyle/>
          <a:p>
            <a:pPr algn="l"/>
            <a:r>
              <a:rPr sz="1100" b="0">
                <a:solidFill>
                  <a:srgbClr val="9AA8C4"/>
                </a:solidFill>
                <a:latin typeface="Yu Gothic UI"/>
              </a:rPr>
              <a:t>海外</a:t>
            </a:r>
          </a:p>
        </p:txBody>
      </p:sp>
      <p:sp>
        <p:nvSpPr>
          <p:cNvPr id="21" name="TextBox 20"/>
          <p:cNvSpPr txBox="1"/>
          <p:nvPr/>
        </p:nvSpPr>
        <p:spPr>
          <a:xfrm>
            <a:off x="9189720" y="1600200"/>
            <a:ext cx="2651760" cy="594360"/>
          </a:xfrm>
          <a:prstGeom prst="rect">
            <a:avLst/>
          </a:prstGeom>
          <a:noFill/>
        </p:spPr>
        <p:txBody>
          <a:bodyPr wrap="square" lIns="36000" rIns="36000" tIns="18000" bIns="18000" anchor="t">
            <a:spAutoFit/>
          </a:bodyPr>
          <a:lstStyle/>
          <a:p>
            <a:pPr algn="l"/>
            <a:r>
              <a:rPr sz="2400" b="1">
                <a:solidFill>
                  <a:srgbClr val="FFC107"/>
                </a:solidFill>
                <a:latin typeface="Yu Gothic UI"/>
              </a:rPr>
              <a:t>2,748 本</a:t>
            </a:r>
          </a:p>
        </p:txBody>
      </p:sp>
      <p:sp>
        <p:nvSpPr>
          <p:cNvPr id="22" name="Rectangle 21"/>
          <p:cNvSpPr/>
          <p:nvPr/>
        </p:nvSpPr>
        <p:spPr>
          <a:xfrm>
            <a:off x="457200" y="2423160"/>
            <a:ext cx="11247120" cy="201168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468880"/>
            <a:ext cx="11247120" cy="320040"/>
          </a:xfrm>
          <a:prstGeom prst="rect">
            <a:avLst/>
          </a:prstGeom>
          <a:noFill/>
        </p:spPr>
        <p:txBody>
          <a:bodyPr wrap="square" lIns="36000" rIns="36000" tIns="18000" bIns="18000" anchor="t">
            <a:spAutoFit/>
          </a:bodyPr>
          <a:lstStyle/>
          <a:p>
            <a:pPr algn="l"/>
            <a:r>
              <a:rPr sz="1200" b="1">
                <a:solidFill>
                  <a:srgbClr val="00E5FF"/>
                </a:solidFill>
                <a:latin typeface="Yu Gothic UI"/>
              </a:rPr>
              <a:t>日別ニュース本数（国内 + 海外）</a:t>
            </a:r>
          </a:p>
        </p:txBody>
      </p:sp>
      <p:sp>
        <p:nvSpPr>
          <p:cNvPr id="24" name="Rectangle 23"/>
          <p:cNvSpPr/>
          <p:nvPr/>
        </p:nvSpPr>
        <p:spPr>
          <a:xfrm>
            <a:off x="976312" y="2926080"/>
            <a:ext cx="569595" cy="975921"/>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6312" y="3902001"/>
            <a:ext cx="569595" cy="12135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4872" y="2651760"/>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434</a:t>
            </a:r>
          </a:p>
        </p:txBody>
      </p:sp>
      <p:sp>
        <p:nvSpPr>
          <p:cNvPr id="27" name="TextBox 26"/>
          <p:cNvSpPr txBox="1"/>
          <p:nvPr/>
        </p:nvSpPr>
        <p:spPr>
          <a:xfrm>
            <a:off x="8848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05-07</a:t>
            </a:r>
          </a:p>
        </p:txBody>
      </p:sp>
      <p:sp>
        <p:nvSpPr>
          <p:cNvPr id="28" name="Rectangle 27"/>
          <p:cNvSpPr/>
          <p:nvPr/>
        </p:nvSpPr>
        <p:spPr>
          <a:xfrm>
            <a:off x="1852612" y="3082834"/>
            <a:ext cx="569595" cy="733205"/>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52612" y="3816039"/>
            <a:ext cx="569595" cy="207320"/>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61172" y="2808514"/>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372</a:t>
            </a:r>
          </a:p>
        </p:txBody>
      </p:sp>
      <p:sp>
        <p:nvSpPr>
          <p:cNvPr id="31" name="TextBox 30"/>
          <p:cNvSpPr txBox="1"/>
          <p:nvPr/>
        </p:nvSpPr>
        <p:spPr>
          <a:xfrm>
            <a:off x="17611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05-08</a:t>
            </a:r>
          </a:p>
        </p:txBody>
      </p:sp>
      <p:sp>
        <p:nvSpPr>
          <p:cNvPr id="32" name="Rectangle 31"/>
          <p:cNvSpPr/>
          <p:nvPr/>
        </p:nvSpPr>
        <p:spPr>
          <a:xfrm>
            <a:off x="2728912" y="3292682"/>
            <a:ext cx="569595" cy="60173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28912" y="3894416"/>
            <a:ext cx="569595" cy="128943"/>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37472" y="3018362"/>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289</a:t>
            </a:r>
          </a:p>
        </p:txBody>
      </p:sp>
      <p:sp>
        <p:nvSpPr>
          <p:cNvPr id="35" name="TextBox 34"/>
          <p:cNvSpPr txBox="1"/>
          <p:nvPr/>
        </p:nvSpPr>
        <p:spPr>
          <a:xfrm>
            <a:off x="26374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05-09</a:t>
            </a:r>
          </a:p>
        </p:txBody>
      </p:sp>
      <p:sp>
        <p:nvSpPr>
          <p:cNvPr id="36" name="Rectangle 35"/>
          <p:cNvSpPr/>
          <p:nvPr/>
        </p:nvSpPr>
        <p:spPr>
          <a:xfrm>
            <a:off x="3605212" y="3545512"/>
            <a:ext cx="569595" cy="419696"/>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05212" y="3965209"/>
            <a:ext cx="569595" cy="58150"/>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13772" y="3271192"/>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189</a:t>
            </a:r>
          </a:p>
        </p:txBody>
      </p:sp>
      <p:sp>
        <p:nvSpPr>
          <p:cNvPr id="39" name="TextBox 38"/>
          <p:cNvSpPr txBox="1"/>
          <p:nvPr/>
        </p:nvSpPr>
        <p:spPr>
          <a:xfrm>
            <a:off x="35137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05-10</a:t>
            </a:r>
          </a:p>
        </p:txBody>
      </p:sp>
      <p:sp>
        <p:nvSpPr>
          <p:cNvPr id="40" name="Rectangle 39"/>
          <p:cNvSpPr/>
          <p:nvPr/>
        </p:nvSpPr>
        <p:spPr>
          <a:xfrm>
            <a:off x="4481512" y="3515172"/>
            <a:ext cx="569595" cy="422225"/>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81512" y="3937397"/>
            <a:ext cx="569595" cy="85962"/>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90072" y="3240852"/>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201</a:t>
            </a:r>
          </a:p>
        </p:txBody>
      </p:sp>
      <p:sp>
        <p:nvSpPr>
          <p:cNvPr id="43" name="TextBox 42"/>
          <p:cNvSpPr txBox="1"/>
          <p:nvPr/>
        </p:nvSpPr>
        <p:spPr>
          <a:xfrm>
            <a:off x="43900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05-11</a:t>
            </a:r>
          </a:p>
        </p:txBody>
      </p:sp>
      <p:sp>
        <p:nvSpPr>
          <p:cNvPr id="44" name="Rectangle 43"/>
          <p:cNvSpPr/>
          <p:nvPr/>
        </p:nvSpPr>
        <p:spPr>
          <a:xfrm>
            <a:off x="5357812" y="3305324"/>
            <a:ext cx="569595" cy="55622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57812" y="3861549"/>
            <a:ext cx="569595" cy="161810"/>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66372" y="3031004"/>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284</a:t>
            </a:r>
          </a:p>
        </p:txBody>
      </p:sp>
      <p:sp>
        <p:nvSpPr>
          <p:cNvPr id="47" name="TextBox 46"/>
          <p:cNvSpPr txBox="1"/>
          <p:nvPr/>
        </p:nvSpPr>
        <p:spPr>
          <a:xfrm>
            <a:off x="52663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05-12</a:t>
            </a:r>
          </a:p>
        </p:txBody>
      </p:sp>
      <p:sp>
        <p:nvSpPr>
          <p:cNvPr id="48" name="Rectangle 47"/>
          <p:cNvSpPr/>
          <p:nvPr/>
        </p:nvSpPr>
        <p:spPr>
          <a:xfrm>
            <a:off x="6234112" y="3214305"/>
            <a:ext cx="569595" cy="627017"/>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34112" y="3841322"/>
            <a:ext cx="569595" cy="182037"/>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2672" y="2939985"/>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320</a:t>
            </a:r>
          </a:p>
        </p:txBody>
      </p:sp>
      <p:sp>
        <p:nvSpPr>
          <p:cNvPr id="51" name="TextBox 50"/>
          <p:cNvSpPr txBox="1"/>
          <p:nvPr/>
        </p:nvSpPr>
        <p:spPr>
          <a:xfrm>
            <a:off x="61426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05-13</a:t>
            </a:r>
          </a:p>
        </p:txBody>
      </p:sp>
      <p:sp>
        <p:nvSpPr>
          <p:cNvPr id="52" name="Rectangle 51"/>
          <p:cNvSpPr/>
          <p:nvPr/>
        </p:nvSpPr>
        <p:spPr>
          <a:xfrm>
            <a:off x="7110412" y="3239588"/>
            <a:ext cx="569595" cy="60173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110412" y="3841322"/>
            <a:ext cx="569595" cy="182037"/>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18972" y="2965268"/>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310</a:t>
            </a:r>
          </a:p>
        </p:txBody>
      </p:sp>
      <p:sp>
        <p:nvSpPr>
          <p:cNvPr id="55" name="TextBox 54"/>
          <p:cNvSpPr txBox="1"/>
          <p:nvPr/>
        </p:nvSpPr>
        <p:spPr>
          <a:xfrm>
            <a:off x="70189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05-14</a:t>
            </a:r>
          </a:p>
        </p:txBody>
      </p:sp>
      <p:sp>
        <p:nvSpPr>
          <p:cNvPr id="56" name="Rectangle 55"/>
          <p:cNvSpPr/>
          <p:nvPr/>
        </p:nvSpPr>
        <p:spPr>
          <a:xfrm>
            <a:off x="7986712" y="3232003"/>
            <a:ext cx="569595" cy="609319"/>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986712" y="3841322"/>
            <a:ext cx="569595" cy="182037"/>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95272" y="2957683"/>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313</a:t>
            </a:r>
          </a:p>
        </p:txBody>
      </p:sp>
      <p:sp>
        <p:nvSpPr>
          <p:cNvPr id="59" name="TextBox 58"/>
          <p:cNvSpPr txBox="1"/>
          <p:nvPr/>
        </p:nvSpPr>
        <p:spPr>
          <a:xfrm>
            <a:off x="78952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05-15</a:t>
            </a:r>
          </a:p>
        </p:txBody>
      </p:sp>
      <p:sp>
        <p:nvSpPr>
          <p:cNvPr id="60" name="Rectangle 59"/>
          <p:cNvSpPr/>
          <p:nvPr/>
        </p:nvSpPr>
        <p:spPr>
          <a:xfrm>
            <a:off x="8863012" y="3292682"/>
            <a:ext cx="569595" cy="589092"/>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863012" y="3881775"/>
            <a:ext cx="569595" cy="141584"/>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771572" y="3018362"/>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289</a:t>
            </a:r>
          </a:p>
        </p:txBody>
      </p:sp>
      <p:sp>
        <p:nvSpPr>
          <p:cNvPr id="63" name="TextBox 62"/>
          <p:cNvSpPr txBox="1"/>
          <p:nvPr/>
        </p:nvSpPr>
        <p:spPr>
          <a:xfrm>
            <a:off x="87715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05-16</a:t>
            </a:r>
          </a:p>
        </p:txBody>
      </p:sp>
      <p:sp>
        <p:nvSpPr>
          <p:cNvPr id="64" name="Rectangle 63"/>
          <p:cNvSpPr/>
          <p:nvPr/>
        </p:nvSpPr>
        <p:spPr>
          <a:xfrm>
            <a:off x="9739312" y="3570795"/>
            <a:ext cx="569595" cy="384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739312" y="3955096"/>
            <a:ext cx="569595" cy="68263"/>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647872" y="3296475"/>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179</a:t>
            </a:r>
          </a:p>
        </p:txBody>
      </p:sp>
      <p:sp>
        <p:nvSpPr>
          <p:cNvPr id="67" name="TextBox 66"/>
          <p:cNvSpPr txBox="1"/>
          <p:nvPr/>
        </p:nvSpPr>
        <p:spPr>
          <a:xfrm>
            <a:off x="96478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05-17</a:t>
            </a:r>
          </a:p>
        </p:txBody>
      </p:sp>
      <p:sp>
        <p:nvSpPr>
          <p:cNvPr id="68" name="Rectangle 67"/>
          <p:cNvSpPr/>
          <p:nvPr/>
        </p:nvSpPr>
        <p:spPr>
          <a:xfrm>
            <a:off x="10615612" y="3494946"/>
            <a:ext cx="569595" cy="427281"/>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615612" y="3922228"/>
            <a:ext cx="569595" cy="101131"/>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524172" y="3220626"/>
            <a:ext cx="752475" cy="256032"/>
          </a:xfrm>
          <a:prstGeom prst="rect">
            <a:avLst/>
          </a:prstGeom>
          <a:noFill/>
        </p:spPr>
        <p:txBody>
          <a:bodyPr wrap="square" lIns="36000" rIns="36000" tIns="18000" bIns="18000" anchor="t">
            <a:spAutoFit/>
          </a:bodyPr>
          <a:lstStyle/>
          <a:p>
            <a:pPr algn="ctr"/>
            <a:r>
              <a:rPr sz="800" b="1">
                <a:solidFill>
                  <a:srgbClr val="E6EDF7"/>
                </a:solidFill>
                <a:latin typeface="Yu Gothic UI"/>
              </a:rPr>
              <a:t>209</a:t>
            </a:r>
          </a:p>
        </p:txBody>
      </p:sp>
      <p:sp>
        <p:nvSpPr>
          <p:cNvPr id="71" name="TextBox 70"/>
          <p:cNvSpPr txBox="1"/>
          <p:nvPr/>
        </p:nvSpPr>
        <p:spPr>
          <a:xfrm>
            <a:off x="10524172" y="4069080"/>
            <a:ext cx="752475" cy="274320"/>
          </a:xfrm>
          <a:prstGeom prst="rect">
            <a:avLst/>
          </a:prstGeom>
          <a:noFill/>
        </p:spPr>
        <p:txBody>
          <a:bodyPr wrap="square" lIns="36000" rIns="36000" tIns="18000" bIns="18000" anchor="t">
            <a:spAutoFit/>
          </a:bodyPr>
          <a:lstStyle/>
          <a:p>
            <a:pPr algn="ctr"/>
            <a:r>
              <a:rPr sz="800" b="0">
                <a:solidFill>
                  <a:srgbClr val="9AA8C4"/>
                </a:solidFill>
                <a:latin typeface="Yu Gothic UI"/>
              </a:rPr>
              <a:t>05-18</a:t>
            </a:r>
          </a:p>
        </p:txBody>
      </p:sp>
      <p:sp>
        <p:nvSpPr>
          <p:cNvPr id="72" name="Rectangle 71"/>
          <p:cNvSpPr/>
          <p:nvPr/>
        </p:nvSpPr>
        <p:spPr>
          <a:xfrm>
            <a:off x="9326880" y="2542032"/>
            <a:ext cx="164592" cy="164592"/>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555480" y="2496312"/>
            <a:ext cx="1005840" cy="274320"/>
          </a:xfrm>
          <a:prstGeom prst="rect">
            <a:avLst/>
          </a:prstGeom>
          <a:noFill/>
        </p:spPr>
        <p:txBody>
          <a:bodyPr wrap="square" lIns="36000" rIns="36000" tIns="18000" bIns="18000" anchor="t">
            <a:spAutoFit/>
          </a:bodyPr>
          <a:lstStyle/>
          <a:p>
            <a:pPr algn="l"/>
            <a:r>
              <a:rPr sz="1000" b="0">
                <a:solidFill>
                  <a:srgbClr val="E6EDF7"/>
                </a:solidFill>
                <a:latin typeface="Yu Gothic UI"/>
              </a:rPr>
              <a:t>国内</a:t>
            </a:r>
          </a:p>
        </p:txBody>
      </p:sp>
      <p:sp>
        <p:nvSpPr>
          <p:cNvPr id="74" name="Rectangle 73"/>
          <p:cNvSpPr/>
          <p:nvPr/>
        </p:nvSpPr>
        <p:spPr>
          <a:xfrm>
            <a:off x="10241280" y="2542032"/>
            <a:ext cx="164592" cy="164592"/>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469880" y="2496312"/>
            <a:ext cx="1005840" cy="274320"/>
          </a:xfrm>
          <a:prstGeom prst="rect">
            <a:avLst/>
          </a:prstGeom>
          <a:noFill/>
        </p:spPr>
        <p:txBody>
          <a:bodyPr wrap="square" lIns="36000" rIns="36000" tIns="18000" bIns="18000" anchor="t">
            <a:spAutoFit/>
          </a:bodyPr>
          <a:lstStyle/>
          <a:p>
            <a:pPr algn="l"/>
            <a:r>
              <a:rPr sz="1000" b="0">
                <a:solidFill>
                  <a:srgbClr val="E6EDF7"/>
                </a:solidFill>
                <a:latin typeface="Yu Gothic UI"/>
              </a:rPr>
              <a:t>海外</a:t>
            </a:r>
          </a:p>
        </p:txBody>
      </p:sp>
      <p:sp>
        <p:nvSpPr>
          <p:cNvPr id="76" name="Rectangle 75"/>
          <p:cNvSpPr/>
          <p:nvPr/>
        </p:nvSpPr>
        <p:spPr>
          <a:xfrm>
            <a:off x="457200" y="4526280"/>
            <a:ext cx="5669280" cy="214884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40080" y="4599432"/>
            <a:ext cx="5669280" cy="320040"/>
          </a:xfrm>
          <a:prstGeom prst="rect">
            <a:avLst/>
          </a:prstGeom>
          <a:noFill/>
        </p:spPr>
        <p:txBody>
          <a:bodyPr wrap="square" lIns="36000" rIns="36000" tIns="18000" bIns="18000" anchor="t">
            <a:spAutoFit/>
          </a:bodyPr>
          <a:lstStyle/>
          <a:p>
            <a:pPr algn="l"/>
            <a:r>
              <a:rPr sz="1200" b="1">
                <a:solidFill>
                  <a:srgbClr val="00E5FF"/>
                </a:solidFill>
                <a:latin typeface="Yu Gothic UI"/>
              </a:rPr>
              <a:t>期間内の主要テーマ（記事数）</a:t>
            </a:r>
          </a:p>
        </p:txBody>
      </p:sp>
      <p:sp>
        <p:nvSpPr>
          <p:cNvPr id="78" name="TextBox 77"/>
          <p:cNvSpPr txBox="1"/>
          <p:nvPr/>
        </p:nvSpPr>
        <p:spPr>
          <a:xfrm>
            <a:off x="640080" y="5029200"/>
            <a:ext cx="1645920" cy="201168"/>
          </a:xfrm>
          <a:prstGeom prst="rect">
            <a:avLst/>
          </a:prstGeom>
          <a:noFill/>
        </p:spPr>
        <p:txBody>
          <a:bodyPr wrap="square" lIns="36000" rIns="36000" tIns="18000" bIns="18000" anchor="t">
            <a:spAutoFit/>
          </a:bodyPr>
          <a:lstStyle/>
          <a:p>
            <a:pPr algn="l"/>
            <a:r>
              <a:rPr sz="1000" b="0">
                <a:solidFill>
                  <a:srgbClr val="E6EDF7"/>
                </a:solidFill>
                <a:latin typeface="Yu Gothic UI"/>
              </a:rPr>
              <a:t>規制・政策</a:t>
            </a:r>
          </a:p>
        </p:txBody>
      </p:sp>
      <p:sp>
        <p:nvSpPr>
          <p:cNvPr id="79" name="Rectangle 78"/>
          <p:cNvSpPr/>
          <p:nvPr/>
        </p:nvSpPr>
        <p:spPr>
          <a:xfrm>
            <a:off x="2377440" y="5065776"/>
            <a:ext cx="3291840" cy="128016"/>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377440" y="5065776"/>
            <a:ext cx="3291840" cy="128016"/>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715000" y="5029200"/>
            <a:ext cx="731520" cy="201168"/>
          </a:xfrm>
          <a:prstGeom prst="rect">
            <a:avLst/>
          </a:prstGeom>
          <a:noFill/>
        </p:spPr>
        <p:txBody>
          <a:bodyPr wrap="square" lIns="36000" rIns="36000" tIns="18000" bIns="18000" anchor="t">
            <a:spAutoFit/>
          </a:bodyPr>
          <a:lstStyle/>
          <a:p>
            <a:pPr algn="l"/>
            <a:r>
              <a:rPr sz="1000" b="1">
                <a:solidFill>
                  <a:srgbClr val="E6EDF7"/>
                </a:solidFill>
                <a:latin typeface="Yu Gothic UI"/>
              </a:rPr>
              <a:t>869</a:t>
            </a:r>
          </a:p>
        </p:txBody>
      </p:sp>
      <p:sp>
        <p:nvSpPr>
          <p:cNvPr id="82" name="TextBox 81"/>
          <p:cNvSpPr txBox="1"/>
          <p:nvPr/>
        </p:nvSpPr>
        <p:spPr>
          <a:xfrm>
            <a:off x="640080" y="5276088"/>
            <a:ext cx="1645920" cy="201168"/>
          </a:xfrm>
          <a:prstGeom prst="rect">
            <a:avLst/>
          </a:prstGeom>
          <a:noFill/>
        </p:spPr>
        <p:txBody>
          <a:bodyPr wrap="square" lIns="36000" rIns="36000" tIns="18000" bIns="18000" anchor="t">
            <a:spAutoFit/>
          </a:bodyPr>
          <a:lstStyle/>
          <a:p>
            <a:pPr algn="l"/>
            <a:r>
              <a:rPr sz="1000" b="0">
                <a:solidFill>
                  <a:srgbClr val="E6EDF7"/>
                </a:solidFill>
                <a:latin typeface="Yu Gothic UI"/>
              </a:rPr>
              <a:t>AI・技術</a:t>
            </a:r>
          </a:p>
        </p:txBody>
      </p:sp>
      <p:sp>
        <p:nvSpPr>
          <p:cNvPr id="83" name="Rectangle 82"/>
          <p:cNvSpPr/>
          <p:nvPr/>
        </p:nvSpPr>
        <p:spPr>
          <a:xfrm>
            <a:off x="2377440" y="5312664"/>
            <a:ext cx="3291840" cy="128016"/>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377440" y="5312664"/>
            <a:ext cx="2431946" cy="128016"/>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715000" y="5276088"/>
            <a:ext cx="731520" cy="201168"/>
          </a:xfrm>
          <a:prstGeom prst="rect">
            <a:avLst/>
          </a:prstGeom>
          <a:noFill/>
        </p:spPr>
        <p:txBody>
          <a:bodyPr wrap="square" lIns="36000" rIns="36000" tIns="18000" bIns="18000" anchor="t">
            <a:spAutoFit/>
          </a:bodyPr>
          <a:lstStyle/>
          <a:p>
            <a:pPr algn="l"/>
            <a:r>
              <a:rPr sz="1000" b="1">
                <a:solidFill>
                  <a:srgbClr val="E6EDF7"/>
                </a:solidFill>
                <a:latin typeface="Yu Gothic UI"/>
              </a:rPr>
              <a:t>642</a:t>
            </a:r>
          </a:p>
        </p:txBody>
      </p:sp>
      <p:sp>
        <p:nvSpPr>
          <p:cNvPr id="86" name="TextBox 85"/>
          <p:cNvSpPr txBox="1"/>
          <p:nvPr/>
        </p:nvSpPr>
        <p:spPr>
          <a:xfrm>
            <a:off x="640080" y="5522976"/>
            <a:ext cx="1645920" cy="201168"/>
          </a:xfrm>
          <a:prstGeom prst="rect">
            <a:avLst/>
          </a:prstGeom>
          <a:noFill/>
        </p:spPr>
        <p:txBody>
          <a:bodyPr wrap="square" lIns="36000" rIns="36000" tIns="18000" bIns="18000" anchor="t">
            <a:spAutoFit/>
          </a:bodyPr>
          <a:lstStyle/>
          <a:p>
            <a:pPr algn="l"/>
            <a:r>
              <a:rPr sz="1000" b="0">
                <a:solidFill>
                  <a:srgbClr val="E6EDF7"/>
                </a:solidFill>
                <a:latin typeface="Yu Gothic UI"/>
              </a:rPr>
              <a:t>その他</a:t>
            </a:r>
          </a:p>
        </p:txBody>
      </p:sp>
      <p:sp>
        <p:nvSpPr>
          <p:cNvPr id="87" name="Rectangle 86"/>
          <p:cNvSpPr/>
          <p:nvPr/>
        </p:nvSpPr>
        <p:spPr>
          <a:xfrm>
            <a:off x="2377440" y="5559552"/>
            <a:ext cx="3291840" cy="128016"/>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377440" y="5559552"/>
            <a:ext cx="2431946" cy="128016"/>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715000" y="5522976"/>
            <a:ext cx="731520" cy="201168"/>
          </a:xfrm>
          <a:prstGeom prst="rect">
            <a:avLst/>
          </a:prstGeom>
          <a:noFill/>
        </p:spPr>
        <p:txBody>
          <a:bodyPr wrap="square" lIns="36000" rIns="36000" tIns="18000" bIns="18000" anchor="t">
            <a:spAutoFit/>
          </a:bodyPr>
          <a:lstStyle/>
          <a:p>
            <a:pPr algn="l"/>
            <a:r>
              <a:rPr sz="1000" b="1">
                <a:solidFill>
                  <a:srgbClr val="E6EDF7"/>
                </a:solidFill>
                <a:latin typeface="Yu Gothic UI"/>
              </a:rPr>
              <a:t>642</a:t>
            </a:r>
          </a:p>
        </p:txBody>
      </p:sp>
      <p:sp>
        <p:nvSpPr>
          <p:cNvPr id="90" name="TextBox 89"/>
          <p:cNvSpPr txBox="1"/>
          <p:nvPr/>
        </p:nvSpPr>
        <p:spPr>
          <a:xfrm>
            <a:off x="640080" y="5769864"/>
            <a:ext cx="1645920" cy="201168"/>
          </a:xfrm>
          <a:prstGeom prst="rect">
            <a:avLst/>
          </a:prstGeom>
          <a:noFill/>
        </p:spPr>
        <p:txBody>
          <a:bodyPr wrap="square" lIns="36000" rIns="36000" tIns="18000" bIns="18000" anchor="t">
            <a:spAutoFit/>
          </a:bodyPr>
          <a:lstStyle/>
          <a:p>
            <a:pPr algn="l"/>
            <a:r>
              <a:rPr sz="1000" b="0">
                <a:solidFill>
                  <a:srgbClr val="E6EDF7"/>
                </a:solidFill>
                <a:latin typeface="Yu Gothic UI"/>
              </a:rPr>
              <a:t>ETF・機関</a:t>
            </a:r>
          </a:p>
        </p:txBody>
      </p:sp>
      <p:sp>
        <p:nvSpPr>
          <p:cNvPr id="91" name="Rectangle 90"/>
          <p:cNvSpPr/>
          <p:nvPr/>
        </p:nvSpPr>
        <p:spPr>
          <a:xfrm>
            <a:off x="2377440" y="5806440"/>
            <a:ext cx="3291840" cy="128016"/>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2377440" y="5806440"/>
            <a:ext cx="1382648" cy="128016"/>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715000" y="5769864"/>
            <a:ext cx="731520" cy="201168"/>
          </a:xfrm>
          <a:prstGeom prst="rect">
            <a:avLst/>
          </a:prstGeom>
          <a:noFill/>
        </p:spPr>
        <p:txBody>
          <a:bodyPr wrap="square" lIns="36000" rIns="36000" tIns="18000" bIns="18000" anchor="t">
            <a:spAutoFit/>
          </a:bodyPr>
          <a:lstStyle/>
          <a:p>
            <a:pPr algn="l"/>
            <a:r>
              <a:rPr sz="1000" b="1">
                <a:solidFill>
                  <a:srgbClr val="E6EDF7"/>
                </a:solidFill>
                <a:latin typeface="Yu Gothic UI"/>
              </a:rPr>
              <a:t>365</a:t>
            </a:r>
          </a:p>
        </p:txBody>
      </p:sp>
      <p:sp>
        <p:nvSpPr>
          <p:cNvPr id="94" name="TextBox 93"/>
          <p:cNvSpPr txBox="1"/>
          <p:nvPr/>
        </p:nvSpPr>
        <p:spPr>
          <a:xfrm>
            <a:off x="640080" y="6016752"/>
            <a:ext cx="1645920" cy="201168"/>
          </a:xfrm>
          <a:prstGeom prst="rect">
            <a:avLst/>
          </a:prstGeom>
          <a:noFill/>
        </p:spPr>
        <p:txBody>
          <a:bodyPr wrap="square" lIns="36000" rIns="36000" tIns="18000" bIns="18000" anchor="t">
            <a:spAutoFit/>
          </a:bodyPr>
          <a:lstStyle/>
          <a:p>
            <a:pPr algn="l"/>
            <a:r>
              <a:rPr sz="1000" b="0">
                <a:solidFill>
                  <a:srgbClr val="E6EDF7"/>
                </a:solidFill>
                <a:latin typeface="Yu Gothic UI"/>
              </a:rPr>
              <a:t>DeFi・L2</a:t>
            </a:r>
          </a:p>
        </p:txBody>
      </p:sp>
      <p:sp>
        <p:nvSpPr>
          <p:cNvPr id="95" name="Rectangle 94"/>
          <p:cNvSpPr/>
          <p:nvPr/>
        </p:nvSpPr>
        <p:spPr>
          <a:xfrm>
            <a:off x="2377440" y="6053328"/>
            <a:ext cx="3291840" cy="128016"/>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377440" y="6053328"/>
            <a:ext cx="1011416" cy="128016"/>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715000" y="6016752"/>
            <a:ext cx="731520" cy="201168"/>
          </a:xfrm>
          <a:prstGeom prst="rect">
            <a:avLst/>
          </a:prstGeom>
          <a:noFill/>
        </p:spPr>
        <p:txBody>
          <a:bodyPr wrap="square" lIns="36000" rIns="36000" tIns="18000" bIns="18000" anchor="t">
            <a:spAutoFit/>
          </a:bodyPr>
          <a:lstStyle/>
          <a:p>
            <a:pPr algn="l"/>
            <a:r>
              <a:rPr sz="1000" b="1">
                <a:solidFill>
                  <a:srgbClr val="E6EDF7"/>
                </a:solidFill>
                <a:latin typeface="Yu Gothic UI"/>
              </a:rPr>
              <a:t>267</a:t>
            </a:r>
          </a:p>
        </p:txBody>
      </p:sp>
      <p:sp>
        <p:nvSpPr>
          <p:cNvPr id="98" name="TextBox 97"/>
          <p:cNvSpPr txBox="1"/>
          <p:nvPr/>
        </p:nvSpPr>
        <p:spPr>
          <a:xfrm>
            <a:off x="640080" y="6263640"/>
            <a:ext cx="1645920" cy="201168"/>
          </a:xfrm>
          <a:prstGeom prst="rect">
            <a:avLst/>
          </a:prstGeom>
          <a:noFill/>
        </p:spPr>
        <p:txBody>
          <a:bodyPr wrap="square" lIns="36000" rIns="36000" tIns="18000" bIns="18000" anchor="t">
            <a:spAutoFit/>
          </a:bodyPr>
          <a:lstStyle/>
          <a:p>
            <a:pPr algn="l"/>
            <a:r>
              <a:rPr sz="1000" b="0">
                <a:solidFill>
                  <a:srgbClr val="E6EDF7"/>
                </a:solidFill>
                <a:latin typeface="Yu Gothic UI"/>
              </a:rPr>
              <a:t>ステーブルコイン</a:t>
            </a:r>
          </a:p>
        </p:txBody>
      </p:sp>
      <p:sp>
        <p:nvSpPr>
          <p:cNvPr id="99" name="Rectangle 98"/>
          <p:cNvSpPr/>
          <p:nvPr/>
        </p:nvSpPr>
        <p:spPr>
          <a:xfrm>
            <a:off x="2377440" y="6300216"/>
            <a:ext cx="3291840" cy="128016"/>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377440" y="6300216"/>
            <a:ext cx="757615" cy="128016"/>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715000" y="6263640"/>
            <a:ext cx="731520" cy="201168"/>
          </a:xfrm>
          <a:prstGeom prst="rect">
            <a:avLst/>
          </a:prstGeom>
          <a:noFill/>
        </p:spPr>
        <p:txBody>
          <a:bodyPr wrap="square" lIns="36000" rIns="36000" tIns="18000" bIns="18000" anchor="t">
            <a:spAutoFit/>
          </a:bodyPr>
          <a:lstStyle/>
          <a:p>
            <a:pPr algn="l"/>
            <a:r>
              <a:rPr sz="1000" b="1">
                <a:solidFill>
                  <a:srgbClr val="E6EDF7"/>
                </a:solidFill>
                <a:latin typeface="Yu Gothic UI"/>
              </a:rPr>
              <a:t>200</a:t>
            </a:r>
          </a:p>
        </p:txBody>
      </p:sp>
      <p:sp>
        <p:nvSpPr>
          <p:cNvPr id="102" name="TextBox 101"/>
          <p:cNvSpPr txBox="1"/>
          <p:nvPr/>
        </p:nvSpPr>
        <p:spPr>
          <a:xfrm>
            <a:off x="640080" y="6510528"/>
            <a:ext cx="1645920" cy="201168"/>
          </a:xfrm>
          <a:prstGeom prst="rect">
            <a:avLst/>
          </a:prstGeom>
          <a:noFill/>
        </p:spPr>
        <p:txBody>
          <a:bodyPr wrap="square" lIns="36000" rIns="36000" tIns="18000" bIns="18000" anchor="t">
            <a:spAutoFit/>
          </a:bodyPr>
          <a:lstStyle/>
          <a:p>
            <a:pPr algn="l"/>
            <a:r>
              <a:rPr sz="1000" b="0">
                <a:solidFill>
                  <a:srgbClr val="E6EDF7"/>
                </a:solidFill>
                <a:latin typeface="Yu Gothic UI"/>
              </a:rPr>
              <a:t>国内企業</a:t>
            </a:r>
          </a:p>
        </p:txBody>
      </p:sp>
      <p:sp>
        <p:nvSpPr>
          <p:cNvPr id="103" name="Rectangle 102"/>
          <p:cNvSpPr/>
          <p:nvPr/>
        </p:nvSpPr>
        <p:spPr>
          <a:xfrm>
            <a:off x="2377440" y="6547104"/>
            <a:ext cx="3291840" cy="128016"/>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2377440" y="6547104"/>
            <a:ext cx="659125" cy="12801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715000" y="6510528"/>
            <a:ext cx="731520" cy="201168"/>
          </a:xfrm>
          <a:prstGeom prst="rect">
            <a:avLst/>
          </a:prstGeom>
          <a:noFill/>
        </p:spPr>
        <p:txBody>
          <a:bodyPr wrap="square" lIns="36000" rIns="36000" tIns="18000" bIns="18000" anchor="t">
            <a:spAutoFit/>
          </a:bodyPr>
          <a:lstStyle/>
          <a:p>
            <a:pPr algn="l"/>
            <a:r>
              <a:rPr sz="1000" b="1">
                <a:solidFill>
                  <a:srgbClr val="E6EDF7"/>
                </a:solidFill>
                <a:latin typeface="Yu Gothic UI"/>
              </a:rPr>
              <a:t>174</a:t>
            </a:r>
          </a:p>
        </p:txBody>
      </p:sp>
      <p:sp>
        <p:nvSpPr>
          <p:cNvPr id="106" name="Rectangle 105"/>
          <p:cNvSpPr/>
          <p:nvPr/>
        </p:nvSpPr>
        <p:spPr>
          <a:xfrm>
            <a:off x="6400800" y="4526280"/>
            <a:ext cx="5330952" cy="214884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583680" y="4599432"/>
            <a:ext cx="5330952" cy="320040"/>
          </a:xfrm>
          <a:prstGeom prst="rect">
            <a:avLst/>
          </a:prstGeom>
          <a:noFill/>
        </p:spPr>
        <p:txBody>
          <a:bodyPr wrap="square" lIns="36000" rIns="36000" tIns="18000" bIns="18000" anchor="t">
            <a:spAutoFit/>
          </a:bodyPr>
          <a:lstStyle/>
          <a:p>
            <a:pPr algn="l"/>
            <a:r>
              <a:rPr sz="1200" b="1">
                <a:solidFill>
                  <a:srgbClr val="00E5FF"/>
                </a:solidFill>
                <a:latin typeface="Yu Gothic UI"/>
              </a:rPr>
              <a:t>本資料の構成</a:t>
            </a:r>
          </a:p>
        </p:txBody>
      </p:sp>
      <p:sp>
        <p:nvSpPr>
          <p:cNvPr id="108" name="TextBox 107"/>
          <p:cNvSpPr txBox="1"/>
          <p:nvPr/>
        </p:nvSpPr>
        <p:spPr>
          <a:xfrm>
            <a:off x="6583680" y="4983480"/>
            <a:ext cx="4965192" cy="1600200"/>
          </a:xfrm>
          <a:prstGeom prst="rect">
            <a:avLst/>
          </a:prstGeom>
          <a:noFill/>
        </p:spPr>
        <p:txBody>
          <a:bodyPr wrap="square" lIns="36000" rIns="36000" tIns="18000" bIns="18000" anchor="t">
            <a:spAutoFit/>
          </a:bodyPr>
          <a:lstStyle/>
          <a:p>
            <a:pPr algn="l"/>
            <a:r>
              <a:rPr sz="1100" b="0">
                <a:solidFill>
                  <a:srgbClr val="E6EDF7"/>
                </a:solidFill>
                <a:latin typeface="Yu Gothic UI"/>
              </a:rPr>
              <a:t>• 1スライド = 1日 のデイリーダイジェスト構成です。</a:t>
            </a:r>
          </a:p>
          <a:p>
            <a:pPr algn="l"/>
            <a:r>
              <a:rPr sz="1100" b="0">
                <a:solidFill>
                  <a:srgbClr val="E6EDF7"/>
                </a:solidFill>
                <a:latin typeface="Yu Gothic UI"/>
              </a:rPr>
              <a:t>• 各スライドは「重大ニュース」「カテゴリ別ハイライト」「主要記事グリッド」「メディア統計」で構成。</a:t>
            </a:r>
          </a:p>
          <a:p>
            <a:pPr algn="l"/>
            <a:r>
              <a:rPr sz="1100" b="0">
                <a:solidFill>
                  <a:srgbClr val="E6EDF7"/>
                </a:solidFill>
                <a:latin typeface="Yu Gothic UI"/>
              </a:rPr>
              <a:t>• 重大度はキーワード分析（規制成立/破綻/価格急変/巨額流出 等）で自動採点しています。</a:t>
            </a:r>
          </a:p>
          <a:p>
            <a:pPr algn="l"/>
            <a:r>
              <a:rPr sz="1100" b="0">
                <a:solidFill>
                  <a:srgbClr val="9AA8C4"/>
                </a:solidFill>
                <a:latin typeface="Yu Gothic UI"/>
              </a:rPr>
              <a:t>• カテゴリ色分け：規制=黄 / ETF=緑 / 価格=橙 / ステーブル=青 / DeFi=紫 / セキュリティ=ピンク / 国内=シアン。</a:t>
            </a:r>
          </a:p>
          <a:p>
            <a:pPr algn="l"/>
            <a:r>
              <a:rPr sz="1100" b="0">
                <a:solidFill>
                  <a:srgbClr val="9AA8C4"/>
                </a:solidFill>
                <a:latin typeface="Yu Gothic UI"/>
              </a:rPr>
              <a:t>• 全 12 日分のスライドが次ページ以降に続きます（2026-05-07 → 2026-05-18）。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2026-05-07</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(木)</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434</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48</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386</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4</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米ホワイトハウス、クラリティ法の成立目標を「7月4日」に設定──大統領関連の倫理規定が焦点に</a:t>
            </a:r>
          </a:p>
          <a:p>
            <a:pPr algn="l"/>
            <a:r>
              <a:rPr sz="850" b="1">
                <a:solidFill>
                  <a:srgbClr val="FF3D8A"/>
                </a:solidFill>
                <a:latin typeface="Yu Gothic UI"/>
              </a:rPr>
              <a:t>CoinDesk Japan  ·  22:40  ·  規制・政策</a:t>
            </a:r>
          </a:p>
          <a:p>
            <a:pPr algn="l"/>
            <a:r>
              <a:rPr sz="900" b="0">
                <a:solidFill>
                  <a:srgbClr val="9AA8C4"/>
                </a:solidFill>
                <a:latin typeface="Yu Gothic UI"/>
              </a:rPr>
              <a:t>THE BLOCKなどの報道によると、米ホワイトハウスは暗号資産市場構造法「クラリティ法案（CLARITY Act）」の成立目標を7月4日の米国独立記念日に設定 ...</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ハット8、1.5兆円規模のAIデータセンター長期リース契約を締結</a:t>
            </a:r>
          </a:p>
          <a:p>
            <a:pPr algn="l"/>
            <a:r>
              <a:rPr sz="850" b="1">
                <a:solidFill>
                  <a:srgbClr val="FF3D8A"/>
                </a:solidFill>
                <a:latin typeface="Yu Gothic UI"/>
              </a:rPr>
              <a:t>CoinPost  ·  13:12  ·  AI・技術</a:t>
            </a:r>
          </a:p>
          <a:p>
            <a:pPr algn="l"/>
            <a:r>
              <a:rPr sz="900" b="0">
                <a:solidFill>
                  <a:srgbClr val="9AA8C4"/>
                </a:solidFill>
                <a:latin typeface="Yu Gothic UI"/>
              </a:rPr>
              <a:t>ハット8がテキサス州のビーコンポイントで15年・98億ドルのAIデータセンターリース契約を締結した。ビットコイン採掘やAIなど複数用途に柔軟に提供できる施設開発を進めている。</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ビットコインマイナー上位5社、24時間で時価総額80億ドル増──ブラックロックのラリー・フィンク氏がAI投資に強気見通し【価格分析】</a:t>
            </a:r>
          </a:p>
          <a:p>
            <a:pPr algn="l"/>
            <a:r>
              <a:rPr sz="850" b="1">
                <a:solidFill>
                  <a:srgbClr val="FFC107"/>
                </a:solidFill>
                <a:latin typeface="Yu Gothic UI"/>
              </a:rPr>
              <a:t>CoinDesk Japan  ·  11:50  ·  ETF・機関</a:t>
            </a:r>
          </a:p>
          <a:p>
            <a:pPr algn="l"/>
            <a:r>
              <a:rPr sz="900" b="0">
                <a:solidFill>
                  <a:srgbClr val="9AA8C4"/>
                </a:solidFill>
                <a:latin typeface="Yu Gothic UI"/>
              </a:rPr>
              <a:t>・ブラックロック（BlackRock）CEOのラリー・フィンク氏は、AIなどに必要な計算資源とメモリの不足に警鐘を鳴らし、将来的に取引可能な資産クラスになり得る ...</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ホワイトハウスがクラリティー法案の7月4日成立を目標設定、来週にも上院委員会の採決へ</a:t>
            </a:r>
          </a:p>
          <a:p>
            <a:pPr algn="l"/>
            <a:r>
              <a:rPr sz="850" b="1">
                <a:solidFill>
                  <a:srgbClr val="FFC107"/>
                </a:solidFill>
                <a:latin typeface="Yu Gothic UI"/>
              </a:rPr>
              <a:t>CoinPost  ·  06:20  ·  規制・政策</a:t>
            </a:r>
          </a:p>
          <a:p>
            <a:pPr algn="l"/>
            <a:r>
              <a:rPr sz="900" b="0">
                <a:solidFill>
                  <a:srgbClr val="9AA8C4"/>
                </a:solidFill>
                <a:latin typeface="Yu Gothic UI"/>
              </a:rPr>
              <a:t>ホワイトハウスの仮想通貨顧問パトリック・ウィット氏が7月4日の独立記念日を法案成立の目標日に設定した。倫理条項をめぐる民主党との交渉は進展しており、上院銀行委員会の採決は来週にも行われる可能性がある。</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Hut 8、98億ドルのAIエネルギーリース契約を発表——株価は33%急騰</a:t>
            </a:r>
          </a:p>
          <a:p>
            <a:pPr algn="l"/>
            <a:r>
              <a:rPr sz="850" b="1">
                <a:solidFill>
                  <a:srgbClr val="4AE3A3"/>
                </a:solidFill>
                <a:latin typeface="Yu Gothic UI"/>
              </a:rPr>
              <a:t>CoinDesk Japan  ·  18:45  ·  価格・市場</a:t>
            </a:r>
          </a:p>
          <a:p>
            <a:pPr algn="l"/>
            <a:r>
              <a:rPr sz="900" b="0">
                <a:solidFill>
                  <a:srgbClr val="9AA8C4"/>
                </a:solidFill>
                <a:latin typeface="Yu Gothic UI"/>
              </a:rPr>
              <a:t>ビットコイン（BTC）マイニング企業のHut 8（ハット8）は5月6日、2026年第1四半期の決算報告とともに、テキサス州で建設中のAIデータセンター「Beac ...</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107</a:t>
            </a:r>
          </a:p>
        </p:txBody>
      </p:sp>
      <p:sp>
        <p:nvSpPr>
          <p:cNvPr id="54" name="Rectangle 53"/>
          <p:cNvSpPr/>
          <p:nvPr/>
        </p:nvSpPr>
        <p:spPr>
          <a:xfrm>
            <a:off x="7315200" y="1636776"/>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87</a:t>
            </a:r>
          </a:p>
        </p:txBody>
      </p:sp>
      <p:sp>
        <p:nvSpPr>
          <p:cNvPr id="57" name="Rectangle 56"/>
          <p:cNvSpPr/>
          <p:nvPr/>
        </p:nvSpPr>
        <p:spPr>
          <a:xfrm>
            <a:off x="7315200" y="1847088"/>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86</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43</a:t>
            </a:r>
          </a:p>
        </p:txBody>
      </p:sp>
      <p:sp>
        <p:nvSpPr>
          <p:cNvPr id="63" name="Rectangle 62"/>
          <p:cNvSpPr/>
          <p:nvPr/>
        </p:nvSpPr>
        <p:spPr>
          <a:xfrm>
            <a:off x="7315200" y="2267712"/>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34</a:t>
            </a:r>
          </a:p>
        </p:txBody>
      </p:sp>
      <p:sp>
        <p:nvSpPr>
          <p:cNvPr id="66" name="Rectangle 65"/>
          <p:cNvSpPr/>
          <p:nvPr/>
        </p:nvSpPr>
        <p:spPr>
          <a:xfrm>
            <a:off x="7315200" y="2478024"/>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27</a:t>
            </a:r>
          </a:p>
        </p:txBody>
      </p:sp>
      <p:sp>
        <p:nvSpPr>
          <p:cNvPr id="69" name="Rectangle 68"/>
          <p:cNvSpPr/>
          <p:nvPr/>
        </p:nvSpPr>
        <p:spPr>
          <a:xfrm>
            <a:off x="7315200" y="2688336"/>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16</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349431"/>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12855"/>
          </a:xfrm>
          <a:prstGeom prst="rect">
            <a:avLst/>
          </a:prstGeom>
          <a:noFill/>
        </p:spPr>
        <p:txBody>
          <a:bodyPr wrap="square" lIns="36000" rIns="36000" tIns="18000" bIns="18000" anchor="t">
            <a:spAutoFit/>
          </a:bodyPr>
          <a:lstStyle/>
          <a:p>
            <a:pPr algn="l"/>
            <a:r>
              <a:rPr sz="800" b="1">
                <a:solidFill>
                  <a:srgbClr val="0B142A"/>
                </a:solidFill>
                <a:latin typeface="Yu Gothic UI"/>
              </a:rPr>
              <a:t>AI・技術 25%</a:t>
            </a:r>
          </a:p>
        </p:txBody>
      </p:sp>
      <p:sp>
        <p:nvSpPr>
          <p:cNvPr id="75" name="Rectangle 74"/>
          <p:cNvSpPr/>
          <p:nvPr/>
        </p:nvSpPr>
        <p:spPr>
          <a:xfrm>
            <a:off x="9738360" y="1812471"/>
            <a:ext cx="1993392" cy="284117"/>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30759"/>
            <a:ext cx="1901952" cy="247541"/>
          </a:xfrm>
          <a:prstGeom prst="rect">
            <a:avLst/>
          </a:prstGeom>
          <a:noFill/>
        </p:spPr>
        <p:txBody>
          <a:bodyPr wrap="square" lIns="36000" rIns="36000" tIns="18000" bIns="18000" anchor="t">
            <a:spAutoFit/>
          </a:bodyPr>
          <a:lstStyle/>
          <a:p>
            <a:pPr algn="l"/>
            <a:r>
              <a:rPr sz="800" b="1">
                <a:solidFill>
                  <a:srgbClr val="0B142A"/>
                </a:solidFill>
                <a:latin typeface="Yu Gothic UI"/>
              </a:rPr>
              <a:t>その他 20%</a:t>
            </a:r>
          </a:p>
        </p:txBody>
      </p:sp>
      <p:sp>
        <p:nvSpPr>
          <p:cNvPr id="77" name="Rectangle 76"/>
          <p:cNvSpPr/>
          <p:nvPr/>
        </p:nvSpPr>
        <p:spPr>
          <a:xfrm>
            <a:off x="9738360" y="2096588"/>
            <a:ext cx="1993392" cy="280851"/>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14876"/>
            <a:ext cx="1901952" cy="244275"/>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20%</a:t>
            </a:r>
          </a:p>
        </p:txBody>
      </p:sp>
      <p:sp>
        <p:nvSpPr>
          <p:cNvPr id="79" name="Rectangle 78"/>
          <p:cNvSpPr/>
          <p:nvPr/>
        </p:nvSpPr>
        <p:spPr>
          <a:xfrm>
            <a:off x="9738360" y="2377440"/>
            <a:ext cx="1993392" cy="140425"/>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517865"/>
            <a:ext cx="1993392" cy="111034"/>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28900"/>
            <a:ext cx="1993392" cy="88174"/>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717074"/>
            <a:ext cx="1993392" cy="52251"/>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69325"/>
            <a:ext cx="1993392" cy="48985"/>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738360" y="2818311"/>
            <a:ext cx="1993392" cy="42454"/>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8" name="TextBox 87"/>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89" name="Rectangle 88"/>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64</a:t>
            </a:r>
          </a:p>
        </p:txBody>
      </p:sp>
      <p:sp>
        <p:nvSpPr>
          <p:cNvPr id="92" name="TextBox 91"/>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93" name="Rectangle 92"/>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601200" y="3803904"/>
            <a:ext cx="177165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62</a:t>
            </a:r>
          </a:p>
        </p:txBody>
      </p:sp>
      <p:sp>
        <p:nvSpPr>
          <p:cNvPr id="96" name="TextBox 95"/>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7" name="Rectangle 96"/>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601200" y="3968496"/>
            <a:ext cx="1628775"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57</a:t>
            </a:r>
          </a:p>
        </p:txBody>
      </p:sp>
      <p:sp>
        <p:nvSpPr>
          <p:cNvPr id="100" name="TextBox 99"/>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1" name="Rectangle 100"/>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601200" y="4133088"/>
            <a:ext cx="12573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44</a:t>
            </a:r>
          </a:p>
        </p:txBody>
      </p:sp>
      <p:sp>
        <p:nvSpPr>
          <p:cNvPr id="104" name="TextBox 103"/>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105" name="Rectangle 104"/>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601200" y="4297680"/>
            <a:ext cx="885825"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31</a:t>
            </a:r>
          </a:p>
        </p:txBody>
      </p:sp>
      <p:sp>
        <p:nvSpPr>
          <p:cNvPr id="108" name="TextBox 107"/>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 Japan</a:t>
            </a:r>
          </a:p>
        </p:txBody>
      </p:sp>
      <p:sp>
        <p:nvSpPr>
          <p:cNvPr id="109" name="Rectangle 108"/>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601200" y="4462272"/>
            <a:ext cx="542925"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19</a:t>
            </a:r>
          </a:p>
        </p:txBody>
      </p:sp>
      <p:sp>
        <p:nvSpPr>
          <p:cNvPr id="112" name="Rectangle 111"/>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5" name="Rounded Rectangle 114"/>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356</a:t>
            </a:r>
          </a:p>
        </p:txBody>
      </p:sp>
      <p:sp>
        <p:nvSpPr>
          <p:cNvPr id="117" name="Rounded Rectangle 116"/>
          <p:cNvSpPr/>
          <p:nvPr/>
        </p:nvSpPr>
        <p:spPr>
          <a:xfrm>
            <a:off x="8065008" y="515721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110728" y="517550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45</a:t>
            </a:r>
          </a:p>
        </p:txBody>
      </p:sp>
      <p:sp>
        <p:nvSpPr>
          <p:cNvPr id="119" name="Rounded Rectangle 118"/>
          <p:cNvSpPr/>
          <p:nvPr/>
        </p:nvSpPr>
        <p:spPr>
          <a:xfrm>
            <a:off x="9500615"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546335"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44</a:t>
            </a:r>
          </a:p>
        </p:txBody>
      </p:sp>
      <p:sp>
        <p:nvSpPr>
          <p:cNvPr id="121" name="Rounded Rectangle 120"/>
          <p:cNvSpPr/>
          <p:nvPr/>
        </p:nvSpPr>
        <p:spPr>
          <a:xfrm>
            <a:off x="10296143"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0341863"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42</a:t>
            </a:r>
          </a:p>
        </p:txBody>
      </p:sp>
      <p:sp>
        <p:nvSpPr>
          <p:cNvPr id="123" name="Rounded Rectangle 122"/>
          <p:cNvSpPr/>
          <p:nvPr/>
        </p:nvSpPr>
        <p:spPr>
          <a:xfrm>
            <a:off x="7360920" y="543153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406640" y="544982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38</a:t>
            </a:r>
          </a:p>
        </p:txBody>
      </p:sp>
      <p:sp>
        <p:nvSpPr>
          <p:cNvPr id="125" name="Rounded Rectangle 124"/>
          <p:cNvSpPr/>
          <p:nvPr/>
        </p:nvSpPr>
        <p:spPr>
          <a:xfrm>
            <a:off x="8613648" y="543153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659368" y="544982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31</a:t>
            </a:r>
          </a:p>
        </p:txBody>
      </p:sp>
      <p:sp>
        <p:nvSpPr>
          <p:cNvPr id="127" name="Rounded Rectangle 126"/>
          <p:cNvSpPr/>
          <p:nvPr/>
        </p:nvSpPr>
        <p:spPr>
          <a:xfrm>
            <a:off x="9500616"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546336"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30</a:t>
            </a:r>
          </a:p>
        </p:txBody>
      </p:sp>
      <p:sp>
        <p:nvSpPr>
          <p:cNvPr id="129" name="Rounded Rectangle 128"/>
          <p:cNvSpPr/>
          <p:nvPr/>
        </p:nvSpPr>
        <p:spPr>
          <a:xfrm>
            <a:off x="10204704" y="543153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250424" y="544982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21</a:t>
            </a:r>
          </a:p>
        </p:txBody>
      </p:sp>
      <p:sp>
        <p:nvSpPr>
          <p:cNvPr id="131" name="Rounded Rectangle 130"/>
          <p:cNvSpPr/>
          <p:nvPr/>
        </p:nvSpPr>
        <p:spPr>
          <a:xfrm>
            <a:off x="7360920" y="570585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406640" y="572414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21</a:t>
            </a:r>
          </a:p>
        </p:txBody>
      </p:sp>
      <p:sp>
        <p:nvSpPr>
          <p:cNvPr id="133" name="Rounded Rectangle 132"/>
          <p:cNvSpPr/>
          <p:nvPr/>
        </p:nvSpPr>
        <p:spPr>
          <a:xfrm>
            <a:off x="8156448"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202168"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17</a:t>
            </a:r>
          </a:p>
        </p:txBody>
      </p:sp>
      <p:sp>
        <p:nvSpPr>
          <p:cNvPr id="135" name="Rounded Rectangle 134"/>
          <p:cNvSpPr/>
          <p:nvPr/>
        </p:nvSpPr>
        <p:spPr>
          <a:xfrm>
            <a:off x="9043416" y="570585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9089136" y="572414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12</a:t>
            </a:r>
          </a:p>
        </p:txBody>
      </p:sp>
      <p:sp>
        <p:nvSpPr>
          <p:cNvPr id="137" name="Rounded Rectangle 136"/>
          <p:cNvSpPr/>
          <p:nvPr/>
        </p:nvSpPr>
        <p:spPr>
          <a:xfrm>
            <a:off x="10204704" y="570585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250424" y="572414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11</a:t>
            </a:r>
          </a:p>
        </p:txBody>
      </p:sp>
      <p:sp>
        <p:nvSpPr>
          <p:cNvPr id="139" name="Rounded Rectangle 138"/>
          <p:cNvSpPr/>
          <p:nvPr/>
        </p:nvSpPr>
        <p:spPr>
          <a:xfrm>
            <a:off x="7360920" y="598017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406640" y="599846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exploit 11</a:t>
            </a:r>
          </a:p>
        </p:txBody>
      </p:sp>
      <p:sp>
        <p:nvSpPr>
          <p:cNvPr id="141" name="Rounded Rectangle 140"/>
          <p:cNvSpPr/>
          <p:nvPr/>
        </p:nvSpPr>
        <p:spPr>
          <a:xfrm>
            <a:off x="8522208" y="598017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8567928" y="599846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トークン化 11</a:t>
            </a:r>
          </a:p>
        </p:txBody>
      </p:sp>
      <p:sp>
        <p:nvSpPr>
          <p:cNvPr id="143" name="Rounded Rectangle 142"/>
          <p:cNvSpPr/>
          <p:nvPr/>
        </p:nvSpPr>
        <p:spPr>
          <a:xfrm>
            <a:off x="9500616" y="598017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9546336" y="599846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ATH 10</a:t>
            </a:r>
          </a:p>
        </p:txBody>
      </p:sp>
      <p:sp>
        <p:nvSpPr>
          <p:cNvPr id="145" name="Rounded Rectangle 144"/>
          <p:cNvSpPr/>
          <p:nvPr/>
        </p:nvSpPr>
        <p:spPr>
          <a:xfrm>
            <a:off x="10296144" y="598017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341864" y="599846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Mining 10</a:t>
            </a:r>
          </a:p>
        </p:txBody>
      </p:sp>
      <p:sp>
        <p:nvSpPr>
          <p:cNvPr id="147" name="Rounded Rectangle 146"/>
          <p:cNvSpPr/>
          <p:nvPr/>
        </p:nvSpPr>
        <p:spPr>
          <a:xfrm>
            <a:off x="7360920" y="625449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7406640" y="627278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9</a:t>
            </a:r>
          </a:p>
        </p:txBody>
      </p:sp>
      <p:sp>
        <p:nvSpPr>
          <p:cNvPr id="149" name="Rounded Rectangle 148"/>
          <p:cNvSpPr/>
          <p:nvPr/>
        </p:nvSpPr>
        <p:spPr>
          <a:xfrm>
            <a:off x="8339328" y="625449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8385048" y="627278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Aave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2026-05-08</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(金)</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372</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82</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290</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9</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米ホワイトハウス、クラリティ法の成立目標を「7月4日」に設定──大統領関連の倫理規定が焦点に</a:t>
            </a:r>
          </a:p>
          <a:p>
            <a:pPr algn="l"/>
            <a:r>
              <a:rPr sz="850" b="1">
                <a:solidFill>
                  <a:srgbClr val="FF3D8A"/>
                </a:solidFill>
                <a:latin typeface="Yu Gothic UI"/>
              </a:rPr>
              <a:t>CoinDesk Japan  ·  22:40  ·  規制・政策</a:t>
            </a:r>
          </a:p>
          <a:p>
            <a:pPr algn="l"/>
            <a:r>
              <a:rPr sz="900" b="0">
                <a:solidFill>
                  <a:srgbClr val="9AA8C4"/>
                </a:solidFill>
                <a:latin typeface="Yu Gothic UI"/>
              </a:rPr>
              <a:t>THE BLOCKなどの報道によると、米ホワイトハウスは暗号資産市場構造法「クラリティ法案（CLARITY Act）」の成立目標を7月4日の米国独立記念日に設定 ...</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トランプ氏一族関与のアメリカン・ビットコイン、26年1Qは約128億円の純損失　BTC採掘量は最高水準に</a:t>
            </a:r>
          </a:p>
          <a:p>
            <a:pPr algn="l"/>
            <a:r>
              <a:rPr sz="850" b="1">
                <a:solidFill>
                  <a:srgbClr val="FF3D8A"/>
                </a:solidFill>
                <a:latin typeface="Yu Gothic UI"/>
              </a:rPr>
              <a:t>CoinPost  ·  11:45  ·  規制・政策</a:t>
            </a:r>
          </a:p>
          <a:p>
            <a:pPr algn="l"/>
            <a:r>
              <a:rPr sz="900" b="0">
                <a:solidFill>
                  <a:srgbClr val="9AA8C4"/>
                </a:solidFill>
                <a:latin typeface="Yu Gothic UI"/>
              </a:rPr>
              <a:t>トランプ一族関与の仮想通貨ビットコインマイニング企業のアメリカン・ビットコインは、2026年1Qの決算を発表。ビットコインの採掘量が過去最高だったことなどを報告した。</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予測市場カルシ、評価額3.4兆円で1570億円調達</a:t>
            </a:r>
          </a:p>
          <a:p>
            <a:pPr algn="l"/>
            <a:r>
              <a:rPr sz="850" b="1">
                <a:solidFill>
                  <a:srgbClr val="FFC107"/>
                </a:solidFill>
                <a:latin typeface="Yu Gothic UI"/>
              </a:rPr>
              <a:t>CoinPost  ·  09:45  ·  ETF・機関</a:t>
            </a:r>
          </a:p>
          <a:p>
            <a:pPr algn="l"/>
            <a:r>
              <a:rPr sz="900" b="0">
                <a:solidFill>
                  <a:srgbClr val="9AA8C4"/>
                </a:solidFill>
                <a:latin typeface="Yu Gothic UI"/>
              </a:rPr>
              <a:t>米予測市場最大手のカルシが5月7日、シリーズFで10億ドルを調達。コートゥ（Coatue）主導で評価額は220億ドルに到達した。過去6カ月で機関投資家取引が9倍に拡大、年換算取引高も3倍超に成長した。</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「金からビットコインへ」、JPモルガンがデベースメントトレード鮮明化を指摘</a:t>
            </a:r>
          </a:p>
          <a:p>
            <a:pPr algn="l"/>
            <a:r>
              <a:rPr sz="850" b="1">
                <a:solidFill>
                  <a:srgbClr val="FFC107"/>
                </a:solidFill>
                <a:latin typeface="Yu Gothic UI"/>
              </a:rPr>
              <a:t>CoinPost  ·  06:15  ·  ETF・機関</a:t>
            </a:r>
          </a:p>
          <a:p>
            <a:pPr algn="l"/>
            <a:r>
              <a:rPr sz="900" b="0">
                <a:solidFill>
                  <a:srgbClr val="9AA8C4"/>
                </a:solidFill>
                <a:latin typeface="Yu Gothic UI"/>
              </a:rPr>
              <a:t>JPモルガンが5月7日付レポートで、ビットコインETFが3カ月連続で純流入を記録する一方、金ETFは流出回収に苦戦と分析。マイケル・セイラー氏のストラテジーが年300億ドル規模の仮想通貨BTC購入ペースに到達する見通しも示した。</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ハット8、1.5兆円規模のAIデータセンター長期リース契約を締結</a:t>
            </a:r>
          </a:p>
          <a:p>
            <a:pPr algn="l"/>
            <a:r>
              <a:rPr sz="850" b="1">
                <a:solidFill>
                  <a:srgbClr val="4AE3A3"/>
                </a:solidFill>
                <a:latin typeface="Yu Gothic UI"/>
              </a:rPr>
              <a:t>CoinPost  ·  13:12  ·  AI・技術</a:t>
            </a:r>
          </a:p>
          <a:p>
            <a:pPr algn="l"/>
            <a:r>
              <a:rPr sz="900" b="0">
                <a:solidFill>
                  <a:srgbClr val="9AA8C4"/>
                </a:solidFill>
                <a:latin typeface="Yu Gothic UI"/>
              </a:rPr>
              <a:t>ハット8がテキサス州のビーコンポイントで15年・98億ドルのAIデータセンターリース契約を締結した。ビットコイン採掘やAIなど複数用途に柔軟に提供できる施設開発を進めている。</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78</a:t>
            </a:r>
          </a:p>
        </p:txBody>
      </p:sp>
      <p:sp>
        <p:nvSpPr>
          <p:cNvPr id="54" name="Rectangle 53"/>
          <p:cNvSpPr/>
          <p:nvPr/>
        </p:nvSpPr>
        <p:spPr>
          <a:xfrm>
            <a:off x="7315200" y="1636776"/>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75</a:t>
            </a:r>
          </a:p>
        </p:txBody>
      </p:sp>
      <p:sp>
        <p:nvSpPr>
          <p:cNvPr id="57" name="Rectangle 56"/>
          <p:cNvSpPr/>
          <p:nvPr/>
        </p:nvSpPr>
        <p:spPr>
          <a:xfrm>
            <a:off x="7315200" y="1847088"/>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71</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42</a:t>
            </a:r>
          </a:p>
        </p:txBody>
      </p:sp>
      <p:sp>
        <p:nvSpPr>
          <p:cNvPr id="63" name="Rectangle 62"/>
          <p:cNvSpPr/>
          <p:nvPr/>
        </p:nvSpPr>
        <p:spPr>
          <a:xfrm>
            <a:off x="7315200" y="2267712"/>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37</a:t>
            </a:r>
          </a:p>
        </p:txBody>
      </p:sp>
      <p:sp>
        <p:nvSpPr>
          <p:cNvPr id="66" name="Rectangle 65"/>
          <p:cNvSpPr/>
          <p:nvPr/>
        </p:nvSpPr>
        <p:spPr>
          <a:xfrm>
            <a:off x="7315200" y="2478024"/>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27</a:t>
            </a:r>
          </a:p>
        </p:txBody>
      </p:sp>
      <p:sp>
        <p:nvSpPr>
          <p:cNvPr id="69" name="Rectangle 68"/>
          <p:cNvSpPr/>
          <p:nvPr/>
        </p:nvSpPr>
        <p:spPr>
          <a:xfrm>
            <a:off x="7315200" y="2688336"/>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18</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297180"/>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260604"/>
          </a:xfrm>
          <a:prstGeom prst="rect">
            <a:avLst/>
          </a:prstGeom>
          <a:noFill/>
        </p:spPr>
        <p:txBody>
          <a:bodyPr wrap="square" lIns="36000" rIns="36000" tIns="18000" bIns="18000" anchor="t">
            <a:spAutoFit/>
          </a:bodyPr>
          <a:lstStyle/>
          <a:p>
            <a:pPr algn="l"/>
            <a:r>
              <a:rPr sz="800" b="1">
                <a:solidFill>
                  <a:srgbClr val="0B142A"/>
                </a:solidFill>
                <a:latin typeface="Yu Gothic UI"/>
              </a:rPr>
              <a:t>AI・技術 21%</a:t>
            </a:r>
          </a:p>
        </p:txBody>
      </p:sp>
      <p:sp>
        <p:nvSpPr>
          <p:cNvPr id="75" name="Rectangle 74"/>
          <p:cNvSpPr/>
          <p:nvPr/>
        </p:nvSpPr>
        <p:spPr>
          <a:xfrm>
            <a:off x="9738360" y="1760220"/>
            <a:ext cx="1993392" cy="285750"/>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778508"/>
            <a:ext cx="1901952" cy="249174"/>
          </a:xfrm>
          <a:prstGeom prst="rect">
            <a:avLst/>
          </a:prstGeom>
          <a:noFill/>
        </p:spPr>
        <p:txBody>
          <a:bodyPr wrap="square" lIns="36000" rIns="36000" tIns="18000" bIns="18000" anchor="t">
            <a:spAutoFit/>
          </a:bodyPr>
          <a:lstStyle/>
          <a:p>
            <a:pPr algn="l"/>
            <a:r>
              <a:rPr sz="800" b="1">
                <a:solidFill>
                  <a:srgbClr val="0B142A"/>
                </a:solidFill>
                <a:latin typeface="Yu Gothic UI"/>
              </a:rPr>
              <a:t>その他 20%</a:t>
            </a:r>
          </a:p>
        </p:txBody>
      </p:sp>
      <p:sp>
        <p:nvSpPr>
          <p:cNvPr id="77" name="Rectangle 76"/>
          <p:cNvSpPr/>
          <p:nvPr/>
        </p:nvSpPr>
        <p:spPr>
          <a:xfrm>
            <a:off x="9738360" y="2045970"/>
            <a:ext cx="1993392" cy="27051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064258"/>
            <a:ext cx="1901952" cy="233934"/>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19%</a:t>
            </a:r>
          </a:p>
        </p:txBody>
      </p:sp>
      <p:sp>
        <p:nvSpPr>
          <p:cNvPr id="79" name="Rectangle 78"/>
          <p:cNvSpPr/>
          <p:nvPr/>
        </p:nvSpPr>
        <p:spPr>
          <a:xfrm>
            <a:off x="9738360" y="2316480"/>
            <a:ext cx="1993392" cy="1600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476500"/>
            <a:ext cx="1993392" cy="140970"/>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17470"/>
            <a:ext cx="1993392" cy="102870"/>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720340"/>
            <a:ext cx="1993392" cy="685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88920"/>
            <a:ext cx="1993392" cy="57150"/>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7" name="TextBox 86"/>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88" name="Rectangle 87"/>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61</a:t>
            </a:r>
          </a:p>
        </p:txBody>
      </p:sp>
      <p:sp>
        <p:nvSpPr>
          <p:cNvPr id="91" name="TextBox 90"/>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92" name="Rectangle 91"/>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601200" y="3803904"/>
            <a:ext cx="1648918"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55</a:t>
            </a:r>
          </a:p>
        </p:txBody>
      </p:sp>
      <p:sp>
        <p:nvSpPr>
          <p:cNvPr id="95" name="TextBox 94"/>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96" name="Rectangle 95"/>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601200" y="3968496"/>
            <a:ext cx="1199213"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40</a:t>
            </a:r>
          </a:p>
        </p:txBody>
      </p:sp>
      <p:sp>
        <p:nvSpPr>
          <p:cNvPr id="99" name="TextBox 98"/>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CoinPost</a:t>
            </a:r>
          </a:p>
        </p:txBody>
      </p:sp>
      <p:sp>
        <p:nvSpPr>
          <p:cNvPr id="100" name="Rectangle 99"/>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601200" y="4133088"/>
            <a:ext cx="98935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33</a:t>
            </a:r>
          </a:p>
        </p:txBody>
      </p:sp>
      <p:sp>
        <p:nvSpPr>
          <p:cNvPr id="103" name="TextBox 102"/>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4" name="Rectangle 103"/>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601200" y="4297680"/>
            <a:ext cx="98935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33</a:t>
            </a:r>
          </a:p>
        </p:txBody>
      </p:sp>
      <p:sp>
        <p:nvSpPr>
          <p:cNvPr id="107" name="TextBox 106"/>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 Japan</a:t>
            </a:r>
          </a:p>
        </p:txBody>
      </p:sp>
      <p:sp>
        <p:nvSpPr>
          <p:cNvPr id="108" name="Rectangle 107"/>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601200" y="4462272"/>
            <a:ext cx="839449"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28</a:t>
            </a:r>
          </a:p>
        </p:txBody>
      </p:sp>
      <p:sp>
        <p:nvSpPr>
          <p:cNvPr id="111" name="Rectangle 110"/>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4" name="Rounded Rectangle 113"/>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245</a:t>
            </a:r>
          </a:p>
        </p:txBody>
      </p:sp>
      <p:sp>
        <p:nvSpPr>
          <p:cNvPr id="116" name="Rounded Rectangle 115"/>
          <p:cNvSpPr/>
          <p:nvPr/>
        </p:nvSpPr>
        <p:spPr>
          <a:xfrm>
            <a:off x="8065008" y="515721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110728" y="517550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34</a:t>
            </a:r>
          </a:p>
        </p:txBody>
      </p:sp>
      <p:sp>
        <p:nvSpPr>
          <p:cNvPr id="118" name="Rounded Rectangle 117"/>
          <p:cNvSpPr/>
          <p:nvPr/>
        </p:nvSpPr>
        <p:spPr>
          <a:xfrm>
            <a:off x="9500615"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546335" y="517550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30</a:t>
            </a:r>
          </a:p>
        </p:txBody>
      </p:sp>
      <p:sp>
        <p:nvSpPr>
          <p:cNvPr id="120" name="Rounded Rectangle 119"/>
          <p:cNvSpPr/>
          <p:nvPr/>
        </p:nvSpPr>
        <p:spPr>
          <a:xfrm>
            <a:off x="10204703"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0250423"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30</a:t>
            </a:r>
          </a:p>
        </p:txBody>
      </p:sp>
      <p:sp>
        <p:nvSpPr>
          <p:cNvPr id="122" name="Rounded Rectangle 121"/>
          <p:cNvSpPr/>
          <p:nvPr/>
        </p:nvSpPr>
        <p:spPr>
          <a:xfrm>
            <a:off x="7360920" y="543153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406640" y="544982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26</a:t>
            </a:r>
          </a:p>
        </p:txBody>
      </p:sp>
      <p:sp>
        <p:nvSpPr>
          <p:cNvPr id="124" name="Rounded Rectangle 123"/>
          <p:cNvSpPr/>
          <p:nvPr/>
        </p:nvSpPr>
        <p:spPr>
          <a:xfrm>
            <a:off x="8247888"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293608"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25</a:t>
            </a:r>
          </a:p>
        </p:txBody>
      </p:sp>
      <p:sp>
        <p:nvSpPr>
          <p:cNvPr id="126" name="Rounded Rectangle 125"/>
          <p:cNvSpPr/>
          <p:nvPr/>
        </p:nvSpPr>
        <p:spPr>
          <a:xfrm>
            <a:off x="9043416"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089136"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25</a:t>
            </a:r>
          </a:p>
        </p:txBody>
      </p:sp>
      <p:sp>
        <p:nvSpPr>
          <p:cNvPr id="128" name="Rounded Rectangle 127"/>
          <p:cNvSpPr/>
          <p:nvPr/>
        </p:nvSpPr>
        <p:spPr>
          <a:xfrm>
            <a:off x="9747504"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793224"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21</a:t>
            </a:r>
          </a:p>
        </p:txBody>
      </p:sp>
      <p:sp>
        <p:nvSpPr>
          <p:cNvPr id="130" name="Rounded Rectangle 129"/>
          <p:cNvSpPr/>
          <p:nvPr/>
        </p:nvSpPr>
        <p:spPr>
          <a:xfrm>
            <a:off x="10543032" y="543153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0588752" y="544982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20</a:t>
            </a:r>
          </a:p>
        </p:txBody>
      </p:sp>
      <p:sp>
        <p:nvSpPr>
          <p:cNvPr id="132" name="Rounded Rectangle 131"/>
          <p:cNvSpPr/>
          <p:nvPr/>
        </p:nvSpPr>
        <p:spPr>
          <a:xfrm>
            <a:off x="7360920"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406640"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17</a:t>
            </a:r>
          </a:p>
        </p:txBody>
      </p:sp>
      <p:sp>
        <p:nvSpPr>
          <p:cNvPr id="134" name="Rounded Rectangle 133"/>
          <p:cNvSpPr/>
          <p:nvPr/>
        </p:nvSpPr>
        <p:spPr>
          <a:xfrm>
            <a:off x="8339328"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385048"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17</a:t>
            </a:r>
          </a:p>
        </p:txBody>
      </p:sp>
      <p:sp>
        <p:nvSpPr>
          <p:cNvPr id="136" name="Rounded Rectangle 135"/>
          <p:cNvSpPr/>
          <p:nvPr/>
        </p:nvSpPr>
        <p:spPr>
          <a:xfrm>
            <a:off x="9317736"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363456"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17</a:t>
            </a:r>
          </a:p>
        </p:txBody>
      </p:sp>
      <p:sp>
        <p:nvSpPr>
          <p:cNvPr id="138" name="Rounded Rectangle 137"/>
          <p:cNvSpPr/>
          <p:nvPr/>
        </p:nvSpPr>
        <p:spPr>
          <a:xfrm>
            <a:off x="10204704"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0250424"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トークン化 17</a:t>
            </a:r>
          </a:p>
        </p:txBody>
      </p:sp>
      <p:sp>
        <p:nvSpPr>
          <p:cNvPr id="140" name="Rounded Rectangle 139"/>
          <p:cNvSpPr/>
          <p:nvPr/>
        </p:nvSpPr>
        <p:spPr>
          <a:xfrm>
            <a:off x="7360920"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406640"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上場 15</a:t>
            </a:r>
          </a:p>
        </p:txBody>
      </p:sp>
      <p:sp>
        <p:nvSpPr>
          <p:cNvPr id="142" name="Rounded Rectangle 141"/>
          <p:cNvSpPr/>
          <p:nvPr/>
        </p:nvSpPr>
        <p:spPr>
          <a:xfrm>
            <a:off x="8065008"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110728"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日本 14</a:t>
            </a:r>
          </a:p>
        </p:txBody>
      </p:sp>
      <p:sp>
        <p:nvSpPr>
          <p:cNvPr id="144" name="Rounded Rectangle 143"/>
          <p:cNvSpPr/>
          <p:nvPr/>
        </p:nvSpPr>
        <p:spPr>
          <a:xfrm>
            <a:off x="8769096" y="598017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8814816" y="599846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11</a:t>
            </a:r>
          </a:p>
        </p:txBody>
      </p:sp>
      <p:sp>
        <p:nvSpPr>
          <p:cNvPr id="146" name="Rounded Rectangle 145"/>
          <p:cNvSpPr/>
          <p:nvPr/>
        </p:nvSpPr>
        <p:spPr>
          <a:xfrm>
            <a:off x="9930384"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9976104"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法案 10</a:t>
            </a:r>
          </a:p>
        </p:txBody>
      </p:sp>
      <p:sp>
        <p:nvSpPr>
          <p:cNvPr id="148" name="Rounded Rectangle 147"/>
          <p:cNvSpPr/>
          <p:nvPr/>
        </p:nvSpPr>
        <p:spPr>
          <a:xfrm>
            <a:off x="10634472" y="598017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0680192" y="599846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Layer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2026-05-09</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(土)</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289</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51</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238</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4</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トランプ氏一族関与のアメリカン・ビットコイン、26年1Qは約128億円の純損失　BTC採掘量は最高水準に</a:t>
            </a:r>
          </a:p>
          <a:p>
            <a:pPr algn="l"/>
            <a:r>
              <a:rPr sz="850" b="1">
                <a:solidFill>
                  <a:srgbClr val="FF3D8A"/>
                </a:solidFill>
                <a:latin typeface="Yu Gothic UI"/>
              </a:rPr>
              <a:t>CoinPost  ·  11:45  ·  規制・政策</a:t>
            </a:r>
          </a:p>
          <a:p>
            <a:pPr algn="l"/>
            <a:r>
              <a:rPr sz="900" b="0">
                <a:solidFill>
                  <a:srgbClr val="9AA8C4"/>
                </a:solidFill>
                <a:latin typeface="Yu Gothic UI"/>
              </a:rPr>
              <a:t>トランプ一族関与の仮想通貨ビットコインマイニング企業のアメリカン・ビットコインは、2026年1Qの決算を発表。ビットコインの採掘量が過去最高だったことなどを報告した。</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予測市場カルシ、評価額3.4兆円で1570億円調達</a:t>
            </a:r>
          </a:p>
          <a:p>
            <a:pPr algn="l"/>
            <a:r>
              <a:rPr sz="850" b="1">
                <a:solidFill>
                  <a:srgbClr val="FF3D8A"/>
                </a:solidFill>
                <a:latin typeface="Yu Gothic UI"/>
              </a:rPr>
              <a:t>CoinPost  ·  09:45  ·  ETF・機関</a:t>
            </a:r>
          </a:p>
          <a:p>
            <a:pPr algn="l"/>
            <a:r>
              <a:rPr sz="900" b="0">
                <a:solidFill>
                  <a:srgbClr val="9AA8C4"/>
                </a:solidFill>
                <a:latin typeface="Yu Gothic UI"/>
              </a:rPr>
              <a:t>米予測市場最大手のカルシが5月7日、シリーズFで10億ドルを調達。コートゥ（Coatue）主導で評価額は220億ドルに到達した。過去6カ月で機関投資家取引が9倍に拡大、年換算取引高も3倍超に成長した。</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「金からビットコインへ」、JPモルガンがデベースメントトレード鮮明化を指摘</a:t>
            </a:r>
          </a:p>
          <a:p>
            <a:pPr algn="l"/>
            <a:r>
              <a:rPr sz="850" b="1">
                <a:solidFill>
                  <a:srgbClr val="FFC107"/>
                </a:solidFill>
                <a:latin typeface="Yu Gothic UI"/>
              </a:rPr>
              <a:t>CoinPost  ·  06:15  ·  ETF・機関</a:t>
            </a:r>
          </a:p>
          <a:p>
            <a:pPr algn="l"/>
            <a:r>
              <a:rPr sz="900" b="0">
                <a:solidFill>
                  <a:srgbClr val="9AA8C4"/>
                </a:solidFill>
                <a:latin typeface="Yu Gothic UI"/>
              </a:rPr>
              <a:t>JPモルガンが5月7日付レポートで、ビットコインETFが3カ月連続で純流入を記録する一方、金ETFは流出回収に苦戦と分析。マイケル・セイラー氏のストラテジーが年300億ドル規模の仮想通貨BTC購入ペースに到達する見通しも示した。</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米クラリティー法案、来週にも上院銀行委でマークアップか　コインベース政策担当者が予想</a:t>
            </a:r>
          </a:p>
          <a:p>
            <a:pPr algn="l"/>
            <a:r>
              <a:rPr sz="850" b="1">
                <a:solidFill>
                  <a:srgbClr val="FFC107"/>
                </a:solidFill>
                <a:latin typeface="Yu Gothic UI"/>
              </a:rPr>
              <a:t>CoinPost  ·  13:45  ·  規制・政策</a:t>
            </a:r>
          </a:p>
          <a:p>
            <a:pPr algn="l"/>
            <a:r>
              <a:rPr sz="900" b="0">
                <a:solidFill>
                  <a:srgbClr val="9AA8C4"/>
                </a:solidFill>
                <a:latin typeface="Yu Gothic UI"/>
              </a:rPr>
              <a:t>米仮想通貨取引所コインベースのカラ・カルバート氏が仮想通貨市場構造法案「クラリティー法案」が来週にも上院銀行委員会でマークアップを迎える可能性があると予想。ホワイトハウスは7月4日成立を目標と立てた。</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ドリフト、約2.95億ドル被害の復旧計画を公開。リカバリートークン発行へ</a:t>
            </a:r>
          </a:p>
          <a:p>
            <a:pPr algn="l"/>
            <a:r>
              <a:rPr sz="850" b="1">
                <a:solidFill>
                  <a:srgbClr val="4AE3A3"/>
                </a:solidFill>
                <a:latin typeface="Yu Gothic UI"/>
              </a:rPr>
              <a:t>あたらしい経済  ·  18:54  ·  DeFi・L2</a:t>
            </a:r>
          </a:p>
          <a:p>
            <a:pPr algn="l"/>
            <a:r>
              <a:rPr sz="900" b="0">
                <a:solidFill>
                  <a:srgbClr val="9AA8C4"/>
                </a:solidFill>
                <a:latin typeface="Yu Gothic UI"/>
              </a:rPr>
              <a:t>ドリフト、被害ユーザー向け復旧計画を公開 分散型取引所（DEX）「ドリフト（Drift Protocol）」が、4月1日に発生した同プロトコルの被害について復旧計画を5月5日に公開した。 ドリフトチームは、自身のXアカウ [&amp;#8230;]</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66</a:t>
            </a:r>
          </a:p>
        </p:txBody>
      </p:sp>
      <p:sp>
        <p:nvSpPr>
          <p:cNvPr id="54" name="Rectangle 53"/>
          <p:cNvSpPr/>
          <p:nvPr/>
        </p:nvSpPr>
        <p:spPr>
          <a:xfrm>
            <a:off x="7315200" y="1636776"/>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55</a:t>
            </a:r>
          </a:p>
        </p:txBody>
      </p:sp>
      <p:sp>
        <p:nvSpPr>
          <p:cNvPr id="57" name="Rectangle 56"/>
          <p:cNvSpPr/>
          <p:nvPr/>
        </p:nvSpPr>
        <p:spPr>
          <a:xfrm>
            <a:off x="7315200" y="1847088"/>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51</a:t>
            </a:r>
          </a:p>
        </p:txBody>
      </p:sp>
      <p:sp>
        <p:nvSpPr>
          <p:cNvPr id="60" name="Rectangle 59"/>
          <p:cNvSpPr/>
          <p:nvPr/>
        </p:nvSpPr>
        <p:spPr>
          <a:xfrm>
            <a:off x="7315200" y="2057400"/>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37</a:t>
            </a:r>
          </a:p>
        </p:txBody>
      </p:sp>
      <p:sp>
        <p:nvSpPr>
          <p:cNvPr id="63" name="Rectangle 62"/>
          <p:cNvSpPr/>
          <p:nvPr/>
        </p:nvSpPr>
        <p:spPr>
          <a:xfrm>
            <a:off x="7315200" y="2267712"/>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33</a:t>
            </a:r>
          </a:p>
        </p:txBody>
      </p:sp>
      <p:sp>
        <p:nvSpPr>
          <p:cNvPr id="66" name="Rectangle 65"/>
          <p:cNvSpPr/>
          <p:nvPr/>
        </p:nvSpPr>
        <p:spPr>
          <a:xfrm>
            <a:off x="7315200" y="2478024"/>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19</a:t>
            </a:r>
          </a:p>
        </p:txBody>
      </p:sp>
      <p:sp>
        <p:nvSpPr>
          <p:cNvPr id="69" name="Rectangle 68"/>
          <p:cNvSpPr/>
          <p:nvPr/>
        </p:nvSpPr>
        <p:spPr>
          <a:xfrm>
            <a:off x="7315200" y="2688336"/>
            <a:ext cx="109728" cy="109728"/>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価格・市場</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FF6B3D"/>
                </a:solidFill>
                <a:latin typeface="Yu Gothic UI"/>
              </a:rPr>
              <a:t>14</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32367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287102"/>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23%</a:t>
            </a:r>
          </a:p>
        </p:txBody>
      </p:sp>
      <p:sp>
        <p:nvSpPr>
          <p:cNvPr id="75" name="Rectangle 74"/>
          <p:cNvSpPr/>
          <p:nvPr/>
        </p:nvSpPr>
        <p:spPr>
          <a:xfrm>
            <a:off x="9738360" y="1786718"/>
            <a:ext cx="1993392" cy="269732"/>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05006"/>
            <a:ext cx="1901952" cy="233156"/>
          </a:xfrm>
          <a:prstGeom prst="rect">
            <a:avLst/>
          </a:prstGeom>
          <a:noFill/>
        </p:spPr>
        <p:txBody>
          <a:bodyPr wrap="square" lIns="36000" rIns="36000" tIns="18000" bIns="18000" anchor="t">
            <a:spAutoFit/>
          </a:bodyPr>
          <a:lstStyle/>
          <a:p>
            <a:pPr algn="l"/>
            <a:r>
              <a:rPr sz="800" b="1">
                <a:solidFill>
                  <a:srgbClr val="0B142A"/>
                </a:solidFill>
                <a:latin typeface="Yu Gothic UI"/>
              </a:rPr>
              <a:t>AI・技術 19%</a:t>
            </a:r>
          </a:p>
        </p:txBody>
      </p:sp>
      <p:sp>
        <p:nvSpPr>
          <p:cNvPr id="77" name="Rectangle 76"/>
          <p:cNvSpPr/>
          <p:nvPr/>
        </p:nvSpPr>
        <p:spPr>
          <a:xfrm>
            <a:off x="9738360" y="2056450"/>
            <a:ext cx="1993392" cy="250115"/>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074738"/>
            <a:ext cx="1901952" cy="213539"/>
          </a:xfrm>
          <a:prstGeom prst="rect">
            <a:avLst/>
          </a:prstGeom>
          <a:noFill/>
        </p:spPr>
        <p:txBody>
          <a:bodyPr wrap="square" lIns="36000" rIns="36000" tIns="18000" bIns="18000" anchor="t">
            <a:spAutoFit/>
          </a:bodyPr>
          <a:lstStyle/>
          <a:p>
            <a:pPr algn="l"/>
            <a:r>
              <a:rPr sz="800" b="1">
                <a:solidFill>
                  <a:srgbClr val="0B142A"/>
                </a:solidFill>
                <a:latin typeface="Yu Gothic UI"/>
              </a:rPr>
              <a:t>その他 18%</a:t>
            </a:r>
          </a:p>
        </p:txBody>
      </p:sp>
      <p:sp>
        <p:nvSpPr>
          <p:cNvPr id="79" name="Rectangle 78"/>
          <p:cNvSpPr/>
          <p:nvPr/>
        </p:nvSpPr>
        <p:spPr>
          <a:xfrm>
            <a:off x="9738360" y="2306566"/>
            <a:ext cx="1993392" cy="181456"/>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784080" y="2324854"/>
            <a:ext cx="1901952" cy="144880"/>
          </a:xfrm>
          <a:prstGeom prst="rect">
            <a:avLst/>
          </a:prstGeom>
          <a:noFill/>
        </p:spPr>
        <p:txBody>
          <a:bodyPr wrap="square" lIns="36000" rIns="36000" tIns="18000" bIns="18000" anchor="t">
            <a:spAutoFit/>
          </a:bodyPr>
          <a:lstStyle/>
          <a:p>
            <a:pPr algn="l"/>
            <a:r>
              <a:rPr sz="800" b="1">
                <a:solidFill>
                  <a:srgbClr val="0B142A"/>
                </a:solidFill>
                <a:latin typeface="Yu Gothic UI"/>
              </a:rPr>
              <a:t>DeFi・L2 13%</a:t>
            </a:r>
          </a:p>
        </p:txBody>
      </p:sp>
      <p:sp>
        <p:nvSpPr>
          <p:cNvPr id="81" name="Rectangle 80"/>
          <p:cNvSpPr/>
          <p:nvPr/>
        </p:nvSpPr>
        <p:spPr>
          <a:xfrm>
            <a:off x="9738360" y="2488022"/>
            <a:ext cx="1993392" cy="161839"/>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649861"/>
            <a:ext cx="1993392" cy="93180"/>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43041"/>
            <a:ext cx="1993392" cy="68659"/>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738360" y="2811700"/>
            <a:ext cx="1993392" cy="4904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8" name="TextBox 87"/>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89" name="Rectangle 88"/>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54</a:t>
            </a:r>
          </a:p>
        </p:txBody>
      </p:sp>
      <p:sp>
        <p:nvSpPr>
          <p:cNvPr id="92" name="TextBox 91"/>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3" name="Rectangle 92"/>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601200" y="3803904"/>
            <a:ext cx="1320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39</a:t>
            </a:r>
          </a:p>
        </p:txBody>
      </p:sp>
      <p:sp>
        <p:nvSpPr>
          <p:cNvPr id="96" name="TextBox 95"/>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97" name="Rectangle 96"/>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601200" y="3968496"/>
            <a:ext cx="10160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30</a:t>
            </a:r>
          </a:p>
        </p:txBody>
      </p:sp>
      <p:sp>
        <p:nvSpPr>
          <p:cNvPr id="100" name="TextBox 99"/>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1" name="Rectangle 100"/>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601200" y="4133088"/>
            <a:ext cx="10160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30</a:t>
            </a:r>
          </a:p>
        </p:txBody>
      </p:sp>
      <p:sp>
        <p:nvSpPr>
          <p:cNvPr id="104" name="TextBox 103"/>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 Japan</a:t>
            </a:r>
          </a:p>
        </p:txBody>
      </p:sp>
      <p:sp>
        <p:nvSpPr>
          <p:cNvPr id="105" name="Rectangle 104"/>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601200" y="4297680"/>
            <a:ext cx="643466"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19</a:t>
            </a:r>
          </a:p>
        </p:txBody>
      </p:sp>
      <p:sp>
        <p:nvSpPr>
          <p:cNvPr id="108" name="TextBox 107"/>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109" name="Rectangle 108"/>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601200" y="4462272"/>
            <a:ext cx="6096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18</a:t>
            </a:r>
          </a:p>
        </p:txBody>
      </p:sp>
      <p:sp>
        <p:nvSpPr>
          <p:cNvPr id="112" name="Rectangle 111"/>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5" name="Rounded Rectangle 114"/>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199</a:t>
            </a:r>
          </a:p>
        </p:txBody>
      </p:sp>
      <p:sp>
        <p:nvSpPr>
          <p:cNvPr id="117" name="Rounded Rectangle 116"/>
          <p:cNvSpPr/>
          <p:nvPr/>
        </p:nvSpPr>
        <p:spPr>
          <a:xfrm>
            <a:off x="8065008" y="515721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110728" y="5175504"/>
            <a:ext cx="74066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Base 49</a:t>
            </a:r>
          </a:p>
        </p:txBody>
      </p:sp>
      <p:sp>
        <p:nvSpPr>
          <p:cNvPr id="119" name="Rounded Rectangle 118"/>
          <p:cNvSpPr/>
          <p:nvPr/>
        </p:nvSpPr>
        <p:spPr>
          <a:xfrm>
            <a:off x="8951976"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997696" y="5175504"/>
            <a:ext cx="64922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SEC 36</a:t>
            </a:r>
          </a:p>
        </p:txBody>
      </p:sp>
      <p:sp>
        <p:nvSpPr>
          <p:cNvPr id="121" name="Rounded Rectangle 120"/>
          <p:cNvSpPr/>
          <p:nvPr/>
        </p:nvSpPr>
        <p:spPr>
          <a:xfrm>
            <a:off x="9747504"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93224" y="517550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33</a:t>
            </a:r>
          </a:p>
        </p:txBody>
      </p:sp>
      <p:sp>
        <p:nvSpPr>
          <p:cNvPr id="123" name="Rounded Rectangle 122"/>
          <p:cNvSpPr/>
          <p:nvPr/>
        </p:nvSpPr>
        <p:spPr>
          <a:xfrm>
            <a:off x="7360920" y="543153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406640" y="544982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28</a:t>
            </a:r>
          </a:p>
        </p:txBody>
      </p:sp>
      <p:sp>
        <p:nvSpPr>
          <p:cNvPr id="125" name="Rounded Rectangle 124"/>
          <p:cNvSpPr/>
          <p:nvPr/>
        </p:nvSpPr>
        <p:spPr>
          <a:xfrm>
            <a:off x="8796527"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842247"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25</a:t>
            </a:r>
          </a:p>
        </p:txBody>
      </p:sp>
      <p:sp>
        <p:nvSpPr>
          <p:cNvPr id="127" name="Rounded Rectangle 126"/>
          <p:cNvSpPr/>
          <p:nvPr/>
        </p:nvSpPr>
        <p:spPr>
          <a:xfrm>
            <a:off x="9592055"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637775"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21</a:t>
            </a:r>
          </a:p>
        </p:txBody>
      </p:sp>
      <p:sp>
        <p:nvSpPr>
          <p:cNvPr id="129" name="Rounded Rectangle 128"/>
          <p:cNvSpPr/>
          <p:nvPr/>
        </p:nvSpPr>
        <p:spPr>
          <a:xfrm>
            <a:off x="10296143"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341863"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21</a:t>
            </a:r>
          </a:p>
        </p:txBody>
      </p:sp>
      <p:sp>
        <p:nvSpPr>
          <p:cNvPr id="131" name="Rounded Rectangle 130"/>
          <p:cNvSpPr/>
          <p:nvPr/>
        </p:nvSpPr>
        <p:spPr>
          <a:xfrm>
            <a:off x="7360920"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406640"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16</a:t>
            </a:r>
          </a:p>
        </p:txBody>
      </p:sp>
      <p:sp>
        <p:nvSpPr>
          <p:cNvPr id="133" name="Rounded Rectangle 132"/>
          <p:cNvSpPr/>
          <p:nvPr/>
        </p:nvSpPr>
        <p:spPr>
          <a:xfrm>
            <a:off x="8339328"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385048"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トークン化 13</a:t>
            </a:r>
          </a:p>
        </p:txBody>
      </p:sp>
      <p:sp>
        <p:nvSpPr>
          <p:cNvPr id="135" name="Rounded Rectangle 134"/>
          <p:cNvSpPr/>
          <p:nvPr/>
        </p:nvSpPr>
        <p:spPr>
          <a:xfrm>
            <a:off x="9317736" y="570585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9363456" y="572414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上場 12</a:t>
            </a:r>
          </a:p>
        </p:txBody>
      </p:sp>
      <p:sp>
        <p:nvSpPr>
          <p:cNvPr id="137" name="Rounded Rectangle 136"/>
          <p:cNvSpPr/>
          <p:nvPr/>
        </p:nvSpPr>
        <p:spPr>
          <a:xfrm>
            <a:off x="10021824" y="570585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067544" y="572414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12</a:t>
            </a:r>
          </a:p>
        </p:txBody>
      </p:sp>
      <p:sp>
        <p:nvSpPr>
          <p:cNvPr id="139" name="Rounded Rectangle 138"/>
          <p:cNvSpPr/>
          <p:nvPr/>
        </p:nvSpPr>
        <p:spPr>
          <a:xfrm>
            <a:off x="7360920"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406640"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10</a:t>
            </a:r>
          </a:p>
        </p:txBody>
      </p:sp>
      <p:sp>
        <p:nvSpPr>
          <p:cNvPr id="141" name="Rounded Rectangle 140"/>
          <p:cNvSpPr/>
          <p:nvPr/>
        </p:nvSpPr>
        <p:spPr>
          <a:xfrm>
            <a:off x="8247888" y="598017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8293608" y="599846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exploit 10</a:t>
            </a:r>
          </a:p>
        </p:txBody>
      </p:sp>
      <p:sp>
        <p:nvSpPr>
          <p:cNvPr id="143" name="Rounded Rectangle 142"/>
          <p:cNvSpPr/>
          <p:nvPr/>
        </p:nvSpPr>
        <p:spPr>
          <a:xfrm>
            <a:off x="9409176" y="598017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9454896" y="599846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エージェント 10</a:t>
            </a:r>
          </a:p>
        </p:txBody>
      </p:sp>
      <p:sp>
        <p:nvSpPr>
          <p:cNvPr id="145" name="Rounded Rectangle 144"/>
          <p:cNvSpPr/>
          <p:nvPr/>
        </p:nvSpPr>
        <p:spPr>
          <a:xfrm>
            <a:off x="10479024" y="598017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24744" y="599846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9</a:t>
            </a:r>
          </a:p>
        </p:txBody>
      </p:sp>
      <p:sp>
        <p:nvSpPr>
          <p:cNvPr id="147" name="Rounded Rectangle 146"/>
          <p:cNvSpPr/>
          <p:nvPr/>
        </p:nvSpPr>
        <p:spPr>
          <a:xfrm>
            <a:off x="7360920" y="625449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7406640" y="627278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日本 9</a:t>
            </a:r>
          </a:p>
        </p:txBody>
      </p:sp>
      <p:sp>
        <p:nvSpPr>
          <p:cNvPr id="149" name="Rounded Rectangle 148"/>
          <p:cNvSpPr/>
          <p:nvPr/>
        </p:nvSpPr>
        <p:spPr>
          <a:xfrm>
            <a:off x="8065008" y="625449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8110728" y="627278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2026-05-10</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(日)</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189</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23</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166</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2</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Arbitrum DAO、凍結済みの111億円相当イーサリアム放出を承認</a:t>
            </a:r>
          </a:p>
          <a:p>
            <a:pPr algn="l"/>
            <a:r>
              <a:rPr sz="850" b="1">
                <a:solidFill>
                  <a:srgbClr val="FF3D8A"/>
                </a:solidFill>
                <a:latin typeface="Yu Gothic UI"/>
              </a:rPr>
              <a:t>CoinPost  ·  06:05  ·  規制・政策</a:t>
            </a:r>
          </a:p>
          <a:p>
            <a:pPr algn="l"/>
            <a:r>
              <a:rPr sz="900" b="0">
                <a:solidFill>
                  <a:srgbClr val="9AA8C4"/>
                </a:solidFill>
                <a:latin typeface="Yu Gothic UI"/>
              </a:rPr>
              <a:t>アービトラムDAOは、Kelp DAOの不正流出被害を補償するため、凍結されていた約30765ETH（111億円相当）の放出を承認した。DeFi United主導の救済策が前進する一方、北朝鮮に関連する米裁判所の差し押さえ命令が資金移動の障壁となっている。</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週刊仮想通貨ニュース｜ビットコインの量子脅威対策や5年以内100万ドル到達の強気予測に高い関心</a:t>
            </a:r>
          </a:p>
          <a:p>
            <a:pPr algn="l"/>
            <a:r>
              <a:rPr sz="850" b="1">
                <a:solidFill>
                  <a:srgbClr val="FF3D8A"/>
                </a:solidFill>
                <a:latin typeface="Yu Gothic UI"/>
              </a:rPr>
              <a:t>CoinPost  ·  09:25  ·  規制・政策</a:t>
            </a:r>
          </a:p>
          <a:p>
            <a:pPr algn="l"/>
            <a:r>
              <a:rPr sz="900" b="0">
                <a:solidFill>
                  <a:srgbClr val="9AA8C4"/>
                </a:solidFill>
                <a:latin typeface="Yu Gothic UI"/>
              </a:rPr>
              <a:t>今週は、仮想通貨ビットコインの量子コンピュータ対策、VanEckのマシュー・シーゲル氏によるビットコイン価格の強気予測、ホワイトハウスによるクラリティー法案の成立目標設定に関する記事が関心を集めた。</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IRENがエヌビディアと戦略的提携、最大5GW規模の次世代AIインフラ構築へ</a:t>
            </a:r>
          </a:p>
          <a:p>
            <a:pPr algn="l"/>
            <a:r>
              <a:rPr sz="850" b="1">
                <a:solidFill>
                  <a:srgbClr val="FFC107"/>
                </a:solidFill>
                <a:latin typeface="Yu Gothic UI"/>
              </a:rPr>
              <a:t>CoinPost  ·  07:10  ·  AI・技術</a:t>
            </a:r>
          </a:p>
          <a:p>
            <a:pPr algn="l"/>
            <a:r>
              <a:rPr sz="900" b="0">
                <a:solidFill>
                  <a:srgbClr val="9AA8C4"/>
                </a:solidFill>
                <a:latin typeface="Yu Gothic UI"/>
              </a:rPr>
              <a:t>仮想通貨マイニング大手のIRENがエヌビディアとの戦略的提携を発表。最大5GWのAIインフラ構築を目指し、エヌビディアは約21億ドルの出資権利を取得した。バーンスタインのアナリストは、GPU供給の確保とAIデータセンターへの転換を高く評価している。</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サンフランシスコ市場レポート── CLARITY法、最終局面と“オンチェーン金融国家”への転換</a:t>
            </a:r>
          </a:p>
          <a:p>
            <a:pPr algn="l"/>
            <a:r>
              <a:rPr sz="850" b="1">
                <a:solidFill>
                  <a:srgbClr val="FFC107"/>
                </a:solidFill>
                <a:latin typeface="Yu Gothic UI"/>
              </a:rPr>
              <a:t>CoinDesk Japan  ·  11:20  ·  規制・政策</a:t>
            </a:r>
          </a:p>
          <a:p>
            <a:pPr algn="l"/>
            <a:r>
              <a:rPr sz="900" b="0">
                <a:solidFill>
                  <a:srgbClr val="9AA8C4"/>
                </a:solidFill>
                <a:latin typeface="Yu Gothic UI"/>
              </a:rPr>
              <a:t>エックスウィン アメリカマーケットリサーチアナリストのデリア・ロホです。サンフランシスコから、現在の米国暗号資産市場における最重要テーマであるCLARITY法と ...</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Strategy CEO Phong Le says company will sell BTC only in specific cases</a:t>
            </a:r>
          </a:p>
          <a:p>
            <a:pPr algn="l"/>
            <a:r>
              <a:rPr sz="850" b="1">
                <a:solidFill>
                  <a:srgbClr val="4AE3A3"/>
                </a:solidFill>
                <a:latin typeface="Yu Gothic UI"/>
              </a:rPr>
              <a:t>Cointelegraph  ·  06:21  ·  ETF・機関</a:t>
            </a:r>
          </a:p>
          <a:p>
            <a:pPr algn="l"/>
            <a:r>
              <a:rPr sz="900" b="0">
                <a:solidFill>
                  <a:srgbClr val="9AA8C4"/>
                </a:solidFill>
                <a:latin typeface="Yu Gothic UI"/>
              </a:rPr>
              <a:t>Strategy's Bitcoin sales will not move the markets, despite it owning more than 4% of the digital currency's maximum supply, Le …</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53</a:t>
            </a:r>
          </a:p>
        </p:txBody>
      </p:sp>
      <p:sp>
        <p:nvSpPr>
          <p:cNvPr id="54" name="Rectangle 53"/>
          <p:cNvSpPr/>
          <p:nvPr/>
        </p:nvSpPr>
        <p:spPr>
          <a:xfrm>
            <a:off x="7315200" y="1636776"/>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41</a:t>
            </a:r>
          </a:p>
        </p:txBody>
      </p:sp>
      <p:sp>
        <p:nvSpPr>
          <p:cNvPr id="57" name="Rectangle 56"/>
          <p:cNvSpPr/>
          <p:nvPr/>
        </p:nvSpPr>
        <p:spPr>
          <a:xfrm>
            <a:off x="7315200" y="1847088"/>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38</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19</a:t>
            </a:r>
          </a:p>
        </p:txBody>
      </p:sp>
      <p:sp>
        <p:nvSpPr>
          <p:cNvPr id="63" name="Rectangle 62"/>
          <p:cNvSpPr/>
          <p:nvPr/>
        </p:nvSpPr>
        <p:spPr>
          <a:xfrm>
            <a:off x="7315200" y="2267712"/>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12</a:t>
            </a:r>
          </a:p>
        </p:txBody>
      </p:sp>
      <p:sp>
        <p:nvSpPr>
          <p:cNvPr id="66" name="Rectangle 65"/>
          <p:cNvSpPr/>
          <p:nvPr/>
        </p:nvSpPr>
        <p:spPr>
          <a:xfrm>
            <a:off x="7315200" y="2478024"/>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8</a:t>
            </a:r>
          </a:p>
        </p:txBody>
      </p:sp>
      <p:sp>
        <p:nvSpPr>
          <p:cNvPr id="69" name="Rectangle 68"/>
          <p:cNvSpPr/>
          <p:nvPr/>
        </p:nvSpPr>
        <p:spPr>
          <a:xfrm>
            <a:off x="7315200" y="2688336"/>
            <a:ext cx="109728" cy="109728"/>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価格・市場</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FF6B3D"/>
                </a:solidFill>
                <a:latin typeface="Yu Gothic UI"/>
              </a:rPr>
              <a:t>7</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397449"/>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60873"/>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28%</a:t>
            </a:r>
          </a:p>
        </p:txBody>
      </p:sp>
      <p:sp>
        <p:nvSpPr>
          <p:cNvPr id="75" name="Rectangle 74"/>
          <p:cNvSpPr/>
          <p:nvPr/>
        </p:nvSpPr>
        <p:spPr>
          <a:xfrm>
            <a:off x="9738360" y="1860489"/>
            <a:ext cx="1993392" cy="307460"/>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78777"/>
            <a:ext cx="1901952" cy="270884"/>
          </a:xfrm>
          <a:prstGeom prst="rect">
            <a:avLst/>
          </a:prstGeom>
          <a:noFill/>
        </p:spPr>
        <p:txBody>
          <a:bodyPr wrap="square" lIns="36000" rIns="36000" tIns="18000" bIns="18000" anchor="t">
            <a:spAutoFit/>
          </a:bodyPr>
          <a:lstStyle/>
          <a:p>
            <a:pPr algn="l"/>
            <a:r>
              <a:rPr sz="800" b="1">
                <a:solidFill>
                  <a:srgbClr val="0B142A"/>
                </a:solidFill>
                <a:latin typeface="Yu Gothic UI"/>
              </a:rPr>
              <a:t>AI・技術 22%</a:t>
            </a:r>
          </a:p>
        </p:txBody>
      </p:sp>
      <p:sp>
        <p:nvSpPr>
          <p:cNvPr id="77" name="Rectangle 76"/>
          <p:cNvSpPr/>
          <p:nvPr/>
        </p:nvSpPr>
        <p:spPr>
          <a:xfrm>
            <a:off x="9738360" y="2167950"/>
            <a:ext cx="1993392" cy="284963"/>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86238"/>
            <a:ext cx="1901952" cy="248387"/>
          </a:xfrm>
          <a:prstGeom prst="rect">
            <a:avLst/>
          </a:prstGeom>
          <a:noFill/>
        </p:spPr>
        <p:txBody>
          <a:bodyPr wrap="square" lIns="36000" rIns="36000" tIns="18000" bIns="18000" anchor="t">
            <a:spAutoFit/>
          </a:bodyPr>
          <a:lstStyle/>
          <a:p>
            <a:pPr algn="l"/>
            <a:r>
              <a:rPr sz="800" b="1">
                <a:solidFill>
                  <a:srgbClr val="0B142A"/>
                </a:solidFill>
                <a:latin typeface="Yu Gothic UI"/>
              </a:rPr>
              <a:t>その他 20%</a:t>
            </a:r>
          </a:p>
        </p:txBody>
      </p:sp>
      <p:sp>
        <p:nvSpPr>
          <p:cNvPr id="79" name="Rectangle 78"/>
          <p:cNvSpPr/>
          <p:nvPr/>
        </p:nvSpPr>
        <p:spPr>
          <a:xfrm>
            <a:off x="9738360" y="2452914"/>
            <a:ext cx="1993392" cy="142481"/>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595396"/>
            <a:ext cx="1993392" cy="8998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85384"/>
            <a:ext cx="1993392" cy="59992"/>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745377"/>
            <a:ext cx="1993392" cy="52493"/>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97870"/>
            <a:ext cx="1993392" cy="4499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7" name="TextBox 86"/>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88" name="Rectangle 87"/>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53</a:t>
            </a:r>
          </a:p>
        </p:txBody>
      </p:sp>
      <p:sp>
        <p:nvSpPr>
          <p:cNvPr id="91" name="TextBox 90"/>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92" name="Rectangle 91"/>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601200" y="3803904"/>
            <a:ext cx="1000664"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29</a:t>
            </a:r>
          </a:p>
        </p:txBody>
      </p:sp>
      <p:sp>
        <p:nvSpPr>
          <p:cNvPr id="95" name="TextBox 94"/>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6" name="Rectangle 95"/>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601200" y="3968496"/>
            <a:ext cx="621101"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18</a:t>
            </a:r>
          </a:p>
        </p:txBody>
      </p:sp>
      <p:sp>
        <p:nvSpPr>
          <p:cNvPr id="99" name="TextBox 98"/>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0" name="Rectangle 99"/>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601200" y="4133088"/>
            <a:ext cx="448573"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13</a:t>
            </a:r>
          </a:p>
        </p:txBody>
      </p:sp>
      <p:sp>
        <p:nvSpPr>
          <p:cNvPr id="103" name="TextBox 102"/>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CoinPost</a:t>
            </a:r>
          </a:p>
        </p:txBody>
      </p:sp>
      <p:sp>
        <p:nvSpPr>
          <p:cNvPr id="104" name="Rectangle 103"/>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601200" y="4297680"/>
            <a:ext cx="414067"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12</a:t>
            </a:r>
          </a:p>
        </p:txBody>
      </p:sp>
      <p:sp>
        <p:nvSpPr>
          <p:cNvPr id="107" name="TextBox 106"/>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 Japan</a:t>
            </a:r>
          </a:p>
        </p:txBody>
      </p:sp>
      <p:sp>
        <p:nvSpPr>
          <p:cNvPr id="108" name="Rectangle 107"/>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601200" y="4462272"/>
            <a:ext cx="379562"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11</a:t>
            </a:r>
          </a:p>
        </p:txBody>
      </p:sp>
      <p:sp>
        <p:nvSpPr>
          <p:cNvPr id="111" name="Rectangle 110"/>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4" name="Rounded Rectangle 113"/>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167</a:t>
            </a:r>
          </a:p>
        </p:txBody>
      </p:sp>
      <p:sp>
        <p:nvSpPr>
          <p:cNvPr id="116" name="Rounded Rectangle 115"/>
          <p:cNvSpPr/>
          <p:nvPr/>
        </p:nvSpPr>
        <p:spPr>
          <a:xfrm>
            <a:off x="8065008"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110728" y="5175504"/>
            <a:ext cx="64922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SEC 30</a:t>
            </a:r>
          </a:p>
        </p:txBody>
      </p:sp>
      <p:sp>
        <p:nvSpPr>
          <p:cNvPr id="118" name="Rounded Rectangle 117"/>
          <p:cNvSpPr/>
          <p:nvPr/>
        </p:nvSpPr>
        <p:spPr>
          <a:xfrm>
            <a:off x="8860536" y="515721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906256" y="517550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22</a:t>
            </a:r>
          </a:p>
        </p:txBody>
      </p:sp>
      <p:sp>
        <p:nvSpPr>
          <p:cNvPr id="120" name="Rounded Rectangle 119"/>
          <p:cNvSpPr/>
          <p:nvPr/>
        </p:nvSpPr>
        <p:spPr>
          <a:xfrm>
            <a:off x="10296143" y="515721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0341863" y="517550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17</a:t>
            </a:r>
          </a:p>
        </p:txBody>
      </p:sp>
      <p:sp>
        <p:nvSpPr>
          <p:cNvPr id="122" name="Rounded Rectangle 121"/>
          <p:cNvSpPr/>
          <p:nvPr/>
        </p:nvSpPr>
        <p:spPr>
          <a:xfrm>
            <a:off x="7360920"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406640"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14</a:t>
            </a:r>
          </a:p>
        </p:txBody>
      </p:sp>
      <p:sp>
        <p:nvSpPr>
          <p:cNvPr id="124" name="Rounded Rectangle 123"/>
          <p:cNvSpPr/>
          <p:nvPr/>
        </p:nvSpPr>
        <p:spPr>
          <a:xfrm>
            <a:off x="8156448"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202168"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14</a:t>
            </a:r>
          </a:p>
        </p:txBody>
      </p:sp>
      <p:sp>
        <p:nvSpPr>
          <p:cNvPr id="126" name="Rounded Rectangle 125"/>
          <p:cNvSpPr/>
          <p:nvPr/>
        </p:nvSpPr>
        <p:spPr>
          <a:xfrm>
            <a:off x="8860536"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906256"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14</a:t>
            </a:r>
          </a:p>
        </p:txBody>
      </p:sp>
      <p:sp>
        <p:nvSpPr>
          <p:cNvPr id="128" name="Rounded Rectangle 127"/>
          <p:cNvSpPr/>
          <p:nvPr/>
        </p:nvSpPr>
        <p:spPr>
          <a:xfrm>
            <a:off x="9656064" y="543153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701784" y="544982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13</a:t>
            </a:r>
          </a:p>
        </p:txBody>
      </p:sp>
      <p:sp>
        <p:nvSpPr>
          <p:cNvPr id="130" name="Rounded Rectangle 129"/>
          <p:cNvSpPr/>
          <p:nvPr/>
        </p:nvSpPr>
        <p:spPr>
          <a:xfrm>
            <a:off x="10634472"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0680192"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13</a:t>
            </a:r>
          </a:p>
        </p:txBody>
      </p:sp>
      <p:sp>
        <p:nvSpPr>
          <p:cNvPr id="132" name="Rounded Rectangle 131"/>
          <p:cNvSpPr/>
          <p:nvPr/>
        </p:nvSpPr>
        <p:spPr>
          <a:xfrm>
            <a:off x="7360920" y="570585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406640" y="572414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Mining 10</a:t>
            </a:r>
          </a:p>
        </p:txBody>
      </p:sp>
      <p:sp>
        <p:nvSpPr>
          <p:cNvPr id="134" name="Rounded Rectangle 133"/>
          <p:cNvSpPr/>
          <p:nvPr/>
        </p:nvSpPr>
        <p:spPr>
          <a:xfrm>
            <a:off x="8430768" y="570585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476488" y="572414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9</a:t>
            </a:r>
          </a:p>
        </p:txBody>
      </p:sp>
      <p:sp>
        <p:nvSpPr>
          <p:cNvPr id="136" name="Rounded Rectangle 135"/>
          <p:cNvSpPr/>
          <p:nvPr/>
        </p:nvSpPr>
        <p:spPr>
          <a:xfrm>
            <a:off x="9683496"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729216"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8</a:t>
            </a:r>
          </a:p>
        </p:txBody>
      </p:sp>
      <p:sp>
        <p:nvSpPr>
          <p:cNvPr id="138" name="Rounded Rectangle 137"/>
          <p:cNvSpPr/>
          <p:nvPr/>
        </p:nvSpPr>
        <p:spPr>
          <a:xfrm>
            <a:off x="10570464"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0616184"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7</a:t>
            </a:r>
          </a:p>
        </p:txBody>
      </p:sp>
      <p:sp>
        <p:nvSpPr>
          <p:cNvPr id="140" name="Rounded Rectangle 139"/>
          <p:cNvSpPr/>
          <p:nvPr/>
        </p:nvSpPr>
        <p:spPr>
          <a:xfrm>
            <a:off x="7360920" y="598017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406640" y="599846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IPO 6</a:t>
            </a:r>
          </a:p>
        </p:txBody>
      </p:sp>
      <p:sp>
        <p:nvSpPr>
          <p:cNvPr id="142" name="Rounded Rectangle 141"/>
          <p:cNvSpPr/>
          <p:nvPr/>
        </p:nvSpPr>
        <p:spPr>
          <a:xfrm>
            <a:off x="8156448" y="598017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202168" y="599846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マイニング 6</a:t>
            </a:r>
          </a:p>
        </p:txBody>
      </p:sp>
      <p:sp>
        <p:nvSpPr>
          <p:cNvPr id="144" name="Rounded Rectangle 143"/>
          <p:cNvSpPr/>
          <p:nvPr/>
        </p:nvSpPr>
        <p:spPr>
          <a:xfrm>
            <a:off x="9134856"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80576"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上院 5</a:t>
            </a:r>
          </a:p>
        </p:txBody>
      </p:sp>
      <p:sp>
        <p:nvSpPr>
          <p:cNvPr id="146" name="Rounded Rectangle 145"/>
          <p:cNvSpPr/>
          <p:nvPr/>
        </p:nvSpPr>
        <p:spPr>
          <a:xfrm>
            <a:off x="9838944" y="5980176"/>
            <a:ext cx="12893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9884664" y="5998464"/>
            <a:ext cx="11978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BlackRock 5</a:t>
            </a:r>
          </a:p>
        </p:txBody>
      </p:sp>
      <p:sp>
        <p:nvSpPr>
          <p:cNvPr id="148" name="Rounded Rectangle 147"/>
          <p:cNvSpPr/>
          <p:nvPr/>
        </p:nvSpPr>
        <p:spPr>
          <a:xfrm>
            <a:off x="7360920" y="625449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7406640" y="627278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DEX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2026-05-11</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(月)</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201</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34</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167</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5</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Trump Media、第1四半期に4億600万ドルの損失──暗号資産含み損が重荷に</a:t>
            </a:r>
          </a:p>
          <a:p>
            <a:pPr algn="l"/>
            <a:r>
              <a:rPr sz="850" b="1">
                <a:solidFill>
                  <a:srgbClr val="FF3D8A"/>
                </a:solidFill>
                <a:latin typeface="Yu Gothic UI"/>
              </a:rPr>
              <a:t>CoinDesk Japan  ·  17:50  ·  規制・政策</a:t>
            </a:r>
          </a:p>
          <a:p>
            <a:pPr algn="l"/>
            <a:r>
              <a:rPr sz="900" b="0">
                <a:solidFill>
                  <a:srgbClr val="9AA8C4"/>
                </a:solidFill>
                <a:latin typeface="Yu Gothic UI"/>
              </a:rPr>
              <a:t>Truth Social（トゥルース・ソーシャル）の親会社であるTrump Media and Technology Group（トランプ・メディア・アンド・テ ...</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米CPI発表を前にBTCは8万2000ドルで足踏み、6月FOMC予測市場に2500万ドル超【価格分析】</a:t>
            </a:r>
          </a:p>
          <a:p>
            <a:pPr algn="l"/>
            <a:r>
              <a:rPr sz="850" b="1">
                <a:solidFill>
                  <a:srgbClr val="FF3D8A"/>
                </a:solidFill>
                <a:latin typeface="Yu Gothic UI"/>
              </a:rPr>
              <a:t>CoinDesk Japan  ·  18:54  ·  規制・政策</a:t>
            </a:r>
          </a:p>
          <a:p>
            <a:pPr algn="l"/>
            <a:r>
              <a:rPr sz="900" b="0">
                <a:solidFill>
                  <a:srgbClr val="9AA8C4"/>
                </a:solidFill>
                <a:latin typeface="Yu Gothic UI"/>
              </a:rPr>
              <a:t>・火曜日に発表される米消費者物価指数（CPI）は、今週の世界市場の地合いを大きく左右するとみられる。市場参加者は、インフレ指標が米連邦準備制度理事会（FRB）の ...</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ビットコイン、今週も材料目白押し　200日線上抜けなるか？【楽天ウォレットDaily Report】</a:t>
            </a:r>
          </a:p>
          <a:p>
            <a:pPr algn="l"/>
            <a:r>
              <a:rPr sz="850" b="1">
                <a:solidFill>
                  <a:srgbClr val="FFC107"/>
                </a:solidFill>
                <a:latin typeface="Yu Gothic UI"/>
              </a:rPr>
              <a:t>CoinDesk Japan  ·  17:05  ·  規制・政策</a:t>
            </a:r>
          </a:p>
          <a:p>
            <a:pPr algn="l"/>
            <a:r>
              <a:rPr sz="900" b="0">
                <a:solidFill>
                  <a:srgbClr val="9AA8C4"/>
                </a:solidFill>
                <a:latin typeface="Yu Gothic UI"/>
              </a:rPr>
              <a:t>ポイント ・週末は上昇、8.2万ドル台半ばに反発 ・Clarity法案審議は14日・14・15日のトランプ訪中がイラン問題でも重要に・200日線トライ中、イラン ...</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週刊仮想通貨ニュース｜ビットコインの量子脅威対策や5年以内100万ドル到達の強気予測に高い関心</a:t>
            </a:r>
          </a:p>
          <a:p>
            <a:pPr algn="l"/>
            <a:r>
              <a:rPr sz="850" b="1">
                <a:solidFill>
                  <a:srgbClr val="FFC107"/>
                </a:solidFill>
                <a:latin typeface="Yu Gothic UI"/>
              </a:rPr>
              <a:t>CoinPost  ·  09:25  ·  規制・政策</a:t>
            </a:r>
          </a:p>
          <a:p>
            <a:pPr algn="l"/>
            <a:r>
              <a:rPr sz="900" b="0">
                <a:solidFill>
                  <a:srgbClr val="9AA8C4"/>
                </a:solidFill>
                <a:latin typeface="Yu Gothic UI"/>
              </a:rPr>
              <a:t>今週は、仮想通貨ビットコインの量子コンピュータ対策、VanEckのマシュー・シーゲル氏によるビットコイン価格の強気予測、ホワイトハウスによるクラリティー法案の成立目標設定に関する記事が関心を集めた。</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BlackRock looks to sidestep Clarity yield issues, filing for two new toke…</a:t>
            </a:r>
          </a:p>
          <a:p>
            <a:pPr algn="l"/>
            <a:r>
              <a:rPr sz="850" b="1">
                <a:solidFill>
                  <a:srgbClr val="4AE3A3"/>
                </a:solidFill>
                <a:latin typeface="Yu Gothic UI"/>
              </a:rPr>
              <a:t>CryptoSlate  ·  19:00  ·  規制・政策</a:t>
            </a:r>
          </a:p>
          <a:p>
            <a:pPr algn="l"/>
            <a:r>
              <a:rPr sz="900" b="0">
                <a:solidFill>
                  <a:srgbClr val="9AA8C4"/>
                </a:solidFill>
                <a:latin typeface="Yu Gothic UI"/>
              </a:rPr>
              <a:t>BlackRock is accelerating its push to bring Wall Street yields to the blockchain, filing paperwork with US regulators to introdu…</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55</a:t>
            </a:r>
          </a:p>
        </p:txBody>
      </p:sp>
      <p:sp>
        <p:nvSpPr>
          <p:cNvPr id="54" name="Rectangle 53"/>
          <p:cNvSpPr/>
          <p:nvPr/>
        </p:nvSpPr>
        <p:spPr>
          <a:xfrm>
            <a:off x="7315200" y="1636776"/>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46</a:t>
            </a:r>
          </a:p>
        </p:txBody>
      </p:sp>
      <p:sp>
        <p:nvSpPr>
          <p:cNvPr id="57" name="Rectangle 56"/>
          <p:cNvSpPr/>
          <p:nvPr/>
        </p:nvSpPr>
        <p:spPr>
          <a:xfrm>
            <a:off x="7315200" y="1847088"/>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40</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22</a:t>
            </a:r>
          </a:p>
        </p:txBody>
      </p:sp>
      <p:sp>
        <p:nvSpPr>
          <p:cNvPr id="63" name="Rectangle 62"/>
          <p:cNvSpPr/>
          <p:nvPr/>
        </p:nvSpPr>
        <p:spPr>
          <a:xfrm>
            <a:off x="7315200" y="2267712"/>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12</a:t>
            </a:r>
          </a:p>
        </p:txBody>
      </p:sp>
      <p:sp>
        <p:nvSpPr>
          <p:cNvPr id="66" name="Rectangle 65"/>
          <p:cNvSpPr/>
          <p:nvPr/>
        </p:nvSpPr>
        <p:spPr>
          <a:xfrm>
            <a:off x="7315200" y="2478024"/>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9</a:t>
            </a:r>
          </a:p>
        </p:txBody>
      </p:sp>
      <p:sp>
        <p:nvSpPr>
          <p:cNvPr id="69" name="Rectangle 68"/>
          <p:cNvSpPr/>
          <p:nvPr/>
        </p:nvSpPr>
        <p:spPr>
          <a:xfrm>
            <a:off x="7315200" y="2688336"/>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8</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387823"/>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51247"/>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27%</a:t>
            </a:r>
          </a:p>
        </p:txBody>
      </p:sp>
      <p:sp>
        <p:nvSpPr>
          <p:cNvPr id="75" name="Rectangle 74"/>
          <p:cNvSpPr/>
          <p:nvPr/>
        </p:nvSpPr>
        <p:spPr>
          <a:xfrm>
            <a:off x="9738360" y="1850863"/>
            <a:ext cx="1993392" cy="324361"/>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69151"/>
            <a:ext cx="1901952" cy="287785"/>
          </a:xfrm>
          <a:prstGeom prst="rect">
            <a:avLst/>
          </a:prstGeom>
          <a:noFill/>
        </p:spPr>
        <p:txBody>
          <a:bodyPr wrap="square" lIns="36000" rIns="36000" tIns="18000" bIns="18000" anchor="t">
            <a:spAutoFit/>
          </a:bodyPr>
          <a:lstStyle/>
          <a:p>
            <a:pPr algn="l"/>
            <a:r>
              <a:rPr sz="800" b="1">
                <a:solidFill>
                  <a:srgbClr val="0B142A"/>
                </a:solidFill>
                <a:latin typeface="Yu Gothic UI"/>
              </a:rPr>
              <a:t>AI・技術 23%</a:t>
            </a:r>
          </a:p>
        </p:txBody>
      </p:sp>
      <p:sp>
        <p:nvSpPr>
          <p:cNvPr id="77" name="Rectangle 76"/>
          <p:cNvSpPr/>
          <p:nvPr/>
        </p:nvSpPr>
        <p:spPr>
          <a:xfrm>
            <a:off x="9738360" y="2175225"/>
            <a:ext cx="1993392" cy="282053"/>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93513"/>
            <a:ext cx="1901952" cy="245477"/>
          </a:xfrm>
          <a:prstGeom prst="rect">
            <a:avLst/>
          </a:prstGeom>
          <a:noFill/>
        </p:spPr>
        <p:txBody>
          <a:bodyPr wrap="square" lIns="36000" rIns="36000" tIns="18000" bIns="18000" anchor="t">
            <a:spAutoFit/>
          </a:bodyPr>
          <a:lstStyle/>
          <a:p>
            <a:pPr algn="l"/>
            <a:r>
              <a:rPr sz="800" b="1">
                <a:solidFill>
                  <a:srgbClr val="0B142A"/>
                </a:solidFill>
                <a:latin typeface="Yu Gothic UI"/>
              </a:rPr>
              <a:t>その他 20%</a:t>
            </a:r>
          </a:p>
        </p:txBody>
      </p:sp>
      <p:sp>
        <p:nvSpPr>
          <p:cNvPr id="79" name="Rectangle 78"/>
          <p:cNvSpPr/>
          <p:nvPr/>
        </p:nvSpPr>
        <p:spPr>
          <a:xfrm>
            <a:off x="9738360" y="2457279"/>
            <a:ext cx="1993392" cy="155129"/>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612408"/>
            <a:ext cx="1993392" cy="84616"/>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97025"/>
            <a:ext cx="1993392" cy="6346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760487"/>
            <a:ext cx="1993392" cy="56410"/>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6" name="TextBox 85"/>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87" name="Rectangle 86"/>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36</a:t>
            </a:r>
          </a:p>
        </p:txBody>
      </p:sp>
      <p:sp>
        <p:nvSpPr>
          <p:cNvPr id="90" name="TextBox 89"/>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91" name="Rectangle 90"/>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601200" y="3803904"/>
            <a:ext cx="17272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34</a:t>
            </a:r>
          </a:p>
        </p:txBody>
      </p:sp>
      <p:sp>
        <p:nvSpPr>
          <p:cNvPr id="94" name="TextBox 93"/>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5" name="Rectangle 94"/>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601200" y="3968496"/>
            <a:ext cx="11176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22</a:t>
            </a:r>
          </a:p>
        </p:txBody>
      </p:sp>
      <p:sp>
        <p:nvSpPr>
          <p:cNvPr id="98" name="TextBox 97"/>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 Japan</a:t>
            </a:r>
          </a:p>
        </p:txBody>
      </p:sp>
      <p:sp>
        <p:nvSpPr>
          <p:cNvPr id="99" name="Rectangle 98"/>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601200" y="4133088"/>
            <a:ext cx="7112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14</a:t>
            </a:r>
          </a:p>
        </p:txBody>
      </p:sp>
      <p:sp>
        <p:nvSpPr>
          <p:cNvPr id="102" name="TextBox 101"/>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103" name="Rectangle 102"/>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601200" y="4297680"/>
            <a:ext cx="6604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13</a:t>
            </a:r>
          </a:p>
        </p:txBody>
      </p:sp>
      <p:sp>
        <p:nvSpPr>
          <p:cNvPr id="106" name="TextBox 105"/>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あたらしい経済</a:t>
            </a:r>
          </a:p>
        </p:txBody>
      </p:sp>
      <p:sp>
        <p:nvSpPr>
          <p:cNvPr id="107" name="Rectangle 106"/>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601200" y="4462272"/>
            <a:ext cx="5080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10</a:t>
            </a:r>
          </a:p>
        </p:txBody>
      </p:sp>
      <p:sp>
        <p:nvSpPr>
          <p:cNvPr id="110" name="Rectangle 109"/>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3" name="Rounded Rectangle 112"/>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167</a:t>
            </a:r>
          </a:p>
        </p:txBody>
      </p:sp>
      <p:sp>
        <p:nvSpPr>
          <p:cNvPr id="115" name="Rounded Rectangle 114"/>
          <p:cNvSpPr/>
          <p:nvPr/>
        </p:nvSpPr>
        <p:spPr>
          <a:xfrm>
            <a:off x="8065008" y="515721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110728" y="517550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24</a:t>
            </a:r>
          </a:p>
        </p:txBody>
      </p:sp>
      <p:sp>
        <p:nvSpPr>
          <p:cNvPr id="117" name="Rounded Rectangle 116"/>
          <p:cNvSpPr/>
          <p:nvPr/>
        </p:nvSpPr>
        <p:spPr>
          <a:xfrm>
            <a:off x="9043416" y="515721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089136" y="517550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19</a:t>
            </a:r>
          </a:p>
        </p:txBody>
      </p:sp>
      <p:sp>
        <p:nvSpPr>
          <p:cNvPr id="119" name="Rounded Rectangle 118"/>
          <p:cNvSpPr/>
          <p:nvPr/>
        </p:nvSpPr>
        <p:spPr>
          <a:xfrm>
            <a:off x="10204704"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0250424" y="517550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17</a:t>
            </a:r>
          </a:p>
        </p:txBody>
      </p:sp>
      <p:sp>
        <p:nvSpPr>
          <p:cNvPr id="121" name="Rounded Rectangle 120"/>
          <p:cNvSpPr/>
          <p:nvPr/>
        </p:nvSpPr>
        <p:spPr>
          <a:xfrm>
            <a:off x="7360920" y="543153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406640" y="544982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17</a:t>
            </a:r>
          </a:p>
        </p:txBody>
      </p:sp>
      <p:sp>
        <p:nvSpPr>
          <p:cNvPr id="123" name="Rounded Rectangle 122"/>
          <p:cNvSpPr/>
          <p:nvPr/>
        </p:nvSpPr>
        <p:spPr>
          <a:xfrm>
            <a:off x="8796527" y="543153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42247" y="544982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16</a:t>
            </a:r>
          </a:p>
        </p:txBody>
      </p:sp>
      <p:sp>
        <p:nvSpPr>
          <p:cNvPr id="125" name="Rounded Rectangle 124"/>
          <p:cNvSpPr/>
          <p:nvPr/>
        </p:nvSpPr>
        <p:spPr>
          <a:xfrm>
            <a:off x="10049255"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0094975"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15</a:t>
            </a:r>
          </a:p>
        </p:txBody>
      </p:sp>
      <p:sp>
        <p:nvSpPr>
          <p:cNvPr id="127" name="Rounded Rectangle 126"/>
          <p:cNvSpPr/>
          <p:nvPr/>
        </p:nvSpPr>
        <p:spPr>
          <a:xfrm>
            <a:off x="10753343"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799063"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15</a:t>
            </a:r>
          </a:p>
        </p:txBody>
      </p:sp>
      <p:sp>
        <p:nvSpPr>
          <p:cNvPr id="129" name="Rounded Rectangle 128"/>
          <p:cNvSpPr/>
          <p:nvPr/>
        </p:nvSpPr>
        <p:spPr>
          <a:xfrm>
            <a:off x="7360920"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406640"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14</a:t>
            </a:r>
          </a:p>
        </p:txBody>
      </p:sp>
      <p:sp>
        <p:nvSpPr>
          <p:cNvPr id="131" name="Rounded Rectangle 130"/>
          <p:cNvSpPr/>
          <p:nvPr/>
        </p:nvSpPr>
        <p:spPr>
          <a:xfrm>
            <a:off x="8339328" y="570585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8385048" y="572414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10</a:t>
            </a:r>
          </a:p>
        </p:txBody>
      </p:sp>
      <p:sp>
        <p:nvSpPr>
          <p:cNvPr id="133" name="Rounded Rectangle 132"/>
          <p:cNvSpPr/>
          <p:nvPr/>
        </p:nvSpPr>
        <p:spPr>
          <a:xfrm>
            <a:off x="9134856" y="570585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9180576" y="572414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規制 9</a:t>
            </a:r>
          </a:p>
        </p:txBody>
      </p:sp>
      <p:sp>
        <p:nvSpPr>
          <p:cNvPr id="135" name="Rounded Rectangle 134"/>
          <p:cNvSpPr/>
          <p:nvPr/>
        </p:nvSpPr>
        <p:spPr>
          <a:xfrm>
            <a:off x="9838944" y="570585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9884664" y="572414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Mining 9</a:t>
            </a:r>
          </a:p>
        </p:txBody>
      </p:sp>
      <p:sp>
        <p:nvSpPr>
          <p:cNvPr id="137" name="Rounded Rectangle 136"/>
          <p:cNvSpPr/>
          <p:nvPr/>
        </p:nvSpPr>
        <p:spPr>
          <a:xfrm>
            <a:off x="10908792" y="570585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954512" y="572414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8</a:t>
            </a:r>
          </a:p>
        </p:txBody>
      </p:sp>
      <p:sp>
        <p:nvSpPr>
          <p:cNvPr id="139" name="Rounded Rectangle 138"/>
          <p:cNvSpPr/>
          <p:nvPr/>
        </p:nvSpPr>
        <p:spPr>
          <a:xfrm>
            <a:off x="7360920" y="5980176"/>
            <a:ext cx="12893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406640" y="5998464"/>
            <a:ext cx="11978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BlackRock 7</a:t>
            </a:r>
          </a:p>
        </p:txBody>
      </p:sp>
      <p:sp>
        <p:nvSpPr>
          <p:cNvPr id="141" name="Rounded Rectangle 140"/>
          <p:cNvSpPr/>
          <p:nvPr/>
        </p:nvSpPr>
        <p:spPr>
          <a:xfrm>
            <a:off x="8705088"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8750808"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7</a:t>
            </a:r>
          </a:p>
        </p:txBody>
      </p:sp>
      <p:sp>
        <p:nvSpPr>
          <p:cNvPr id="143" name="Rounded Rectangle 142"/>
          <p:cNvSpPr/>
          <p:nvPr/>
        </p:nvSpPr>
        <p:spPr>
          <a:xfrm>
            <a:off x="9592056"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9637776"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6</a:t>
            </a:r>
          </a:p>
        </p:txBody>
      </p:sp>
      <p:sp>
        <p:nvSpPr>
          <p:cNvPr id="145" name="Rounded Rectangle 144"/>
          <p:cNvSpPr/>
          <p:nvPr/>
        </p:nvSpPr>
        <p:spPr>
          <a:xfrm>
            <a:off x="10479024"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24744"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法案 5</a:t>
            </a:r>
          </a:p>
        </p:txBody>
      </p:sp>
      <p:sp>
        <p:nvSpPr>
          <p:cNvPr id="147" name="Rounded Rectangle 146"/>
          <p:cNvSpPr/>
          <p:nvPr/>
        </p:nvSpPr>
        <p:spPr>
          <a:xfrm>
            <a:off x="7360920" y="625449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7406640" y="627278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Layer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2026-05-12</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(火)</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284</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64</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220</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6</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バイナンス、AI活用で約1.6兆円の詐欺被害を防止</a:t>
            </a:r>
          </a:p>
          <a:p>
            <a:pPr algn="l"/>
            <a:r>
              <a:rPr sz="850" b="1">
                <a:solidFill>
                  <a:srgbClr val="FF3D8A"/>
                </a:solidFill>
                <a:latin typeface="Yu Gothic UI"/>
              </a:rPr>
              <a:t>あたらしい経済  ·  16:16  ·  セキュリティ</a:t>
            </a:r>
          </a:p>
          <a:p>
            <a:pPr algn="l"/>
            <a:r>
              <a:rPr sz="900" b="0">
                <a:solidFill>
                  <a:srgbClr val="9AA8C4"/>
                </a:solidFill>
                <a:latin typeface="Yu Gothic UI"/>
              </a:rPr>
              <a:t>不正検知・詐欺防止を報告 バイナンス（Binance）が2025年初頭から2026年第1四半期にかけて、累計105億3,000万ドル（約1兆6,577億円）にのぼるユーザー被害を防いだと5月11日報告した。対象ユーザー数 [&amp;#8230;]</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アンソロピック、トークン化された自社株に警告　権利は認めず「無効」を明言</a:t>
            </a:r>
          </a:p>
          <a:p>
            <a:pPr algn="l"/>
            <a:r>
              <a:rPr sz="850" b="1">
                <a:solidFill>
                  <a:srgbClr val="FF3D8A"/>
                </a:solidFill>
                <a:latin typeface="Yu Gothic UI"/>
              </a:rPr>
              <a:t>CoinPost  ·  10:46  ·  規制・政策</a:t>
            </a:r>
          </a:p>
          <a:p>
            <a:pPr algn="l"/>
            <a:r>
              <a:rPr sz="900" b="0">
                <a:solidFill>
                  <a:srgbClr val="9AA8C4"/>
                </a:solidFill>
                <a:latin typeface="Yu Gothic UI"/>
              </a:rPr>
              <a:t>Anthropicが未承認の株式譲渡を「無効」と警告。SPVやトークン化証券、先渡契約を対象とし、HiiveやForgeなどを名指しした。二次市場の評価額は1兆ドル超え規模に達している。</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Trump Media、第1四半期に4億600万ドルの損失──暗号資産含み損が重荷に</a:t>
            </a:r>
          </a:p>
          <a:p>
            <a:pPr algn="l"/>
            <a:r>
              <a:rPr sz="850" b="1">
                <a:solidFill>
                  <a:srgbClr val="FFC107"/>
                </a:solidFill>
                <a:latin typeface="Yu Gothic UI"/>
              </a:rPr>
              <a:t>CoinDesk Japan  ·  17:50  ·  規制・政策</a:t>
            </a:r>
          </a:p>
          <a:p>
            <a:pPr algn="l"/>
            <a:r>
              <a:rPr sz="900" b="0">
                <a:solidFill>
                  <a:srgbClr val="9AA8C4"/>
                </a:solidFill>
                <a:latin typeface="Yu Gothic UI"/>
              </a:rPr>
              <a:t>Truth Social（トゥルース・ソーシャル）の親会社であるTrump Media and Technology Group（トランプ・メディア・アンド・テ ...</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米CPI発表を前にBTCは8万2000ドルで足踏み、6月FOMC予測市場に2500万ドル超【価格分析】</a:t>
            </a:r>
          </a:p>
          <a:p>
            <a:pPr algn="l"/>
            <a:r>
              <a:rPr sz="850" b="1">
                <a:solidFill>
                  <a:srgbClr val="FFC107"/>
                </a:solidFill>
                <a:latin typeface="Yu Gothic UI"/>
              </a:rPr>
              <a:t>CoinDesk Japan  ·  18:54  ·  規制・政策</a:t>
            </a:r>
          </a:p>
          <a:p>
            <a:pPr algn="l"/>
            <a:r>
              <a:rPr sz="900" b="0">
                <a:solidFill>
                  <a:srgbClr val="9AA8C4"/>
                </a:solidFill>
                <a:latin typeface="Yu Gothic UI"/>
              </a:rPr>
              <a:t>・火曜日に発表される米消費者物価指数（CPI）は、今週の世界市場の地合いを大きく左右するとみられる。市場参加者は、インフレ指標が米連邦準備制度理事会（FRB）の ...</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ビットコイン、今週も材料目白押し　200日線上抜けなるか？【楽天ウォレットDaily Report】</a:t>
            </a:r>
          </a:p>
          <a:p>
            <a:pPr algn="l"/>
            <a:r>
              <a:rPr sz="850" b="1">
                <a:solidFill>
                  <a:srgbClr val="4AE3A3"/>
                </a:solidFill>
                <a:latin typeface="Yu Gothic UI"/>
              </a:rPr>
              <a:t>CoinDesk Japan  ·  17:05  ·  規制・政策</a:t>
            </a:r>
          </a:p>
          <a:p>
            <a:pPr algn="l"/>
            <a:r>
              <a:rPr sz="900" b="0">
                <a:solidFill>
                  <a:srgbClr val="9AA8C4"/>
                </a:solidFill>
                <a:latin typeface="Yu Gothic UI"/>
              </a:rPr>
              <a:t>ポイント ・週末は上昇、8.2万ドル台半ばに反発 ・Clarity法案審議は14日・14・15日のトランプ訪中がイラン問題でも重要に・200日線トライ中、イラン ...</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79</a:t>
            </a:r>
          </a:p>
        </p:txBody>
      </p:sp>
      <p:sp>
        <p:nvSpPr>
          <p:cNvPr id="54" name="Rectangle 53"/>
          <p:cNvSpPr/>
          <p:nvPr/>
        </p:nvSpPr>
        <p:spPr>
          <a:xfrm>
            <a:off x="7315200" y="1636776"/>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53</a:t>
            </a:r>
          </a:p>
        </p:txBody>
      </p:sp>
      <p:sp>
        <p:nvSpPr>
          <p:cNvPr id="57" name="Rectangle 56"/>
          <p:cNvSpPr/>
          <p:nvPr/>
        </p:nvSpPr>
        <p:spPr>
          <a:xfrm>
            <a:off x="7315200" y="1847088"/>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50</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32</a:t>
            </a:r>
          </a:p>
        </p:txBody>
      </p:sp>
      <p:sp>
        <p:nvSpPr>
          <p:cNvPr id="63" name="Rectangle 62"/>
          <p:cNvSpPr/>
          <p:nvPr/>
        </p:nvSpPr>
        <p:spPr>
          <a:xfrm>
            <a:off x="7315200" y="2267712"/>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21</a:t>
            </a:r>
          </a:p>
        </p:txBody>
      </p:sp>
      <p:sp>
        <p:nvSpPr>
          <p:cNvPr id="66" name="Rectangle 65"/>
          <p:cNvSpPr/>
          <p:nvPr/>
        </p:nvSpPr>
        <p:spPr>
          <a:xfrm>
            <a:off x="7315200" y="2478024"/>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17</a:t>
            </a:r>
          </a:p>
        </p:txBody>
      </p:sp>
      <p:sp>
        <p:nvSpPr>
          <p:cNvPr id="69" name="Rectangle 68"/>
          <p:cNvSpPr/>
          <p:nvPr/>
        </p:nvSpPr>
        <p:spPr>
          <a:xfrm>
            <a:off x="7315200" y="2688336"/>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15</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39425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57678"/>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28%</a:t>
            </a:r>
          </a:p>
        </p:txBody>
      </p:sp>
      <p:sp>
        <p:nvSpPr>
          <p:cNvPr id="75" name="Rectangle 74"/>
          <p:cNvSpPr/>
          <p:nvPr/>
        </p:nvSpPr>
        <p:spPr>
          <a:xfrm>
            <a:off x="9738360" y="1857294"/>
            <a:ext cx="1993392" cy="264499"/>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75582"/>
            <a:ext cx="1901952" cy="227923"/>
          </a:xfrm>
          <a:prstGeom prst="rect">
            <a:avLst/>
          </a:prstGeom>
          <a:noFill/>
        </p:spPr>
        <p:txBody>
          <a:bodyPr wrap="square" lIns="36000" rIns="36000" tIns="18000" bIns="18000" anchor="t">
            <a:spAutoFit/>
          </a:bodyPr>
          <a:lstStyle/>
          <a:p>
            <a:pPr algn="l"/>
            <a:r>
              <a:rPr sz="800" b="1">
                <a:solidFill>
                  <a:srgbClr val="0B142A"/>
                </a:solidFill>
                <a:latin typeface="Yu Gothic UI"/>
              </a:rPr>
              <a:t>その他 19%</a:t>
            </a:r>
          </a:p>
        </p:txBody>
      </p:sp>
      <p:sp>
        <p:nvSpPr>
          <p:cNvPr id="77" name="Rectangle 76"/>
          <p:cNvSpPr/>
          <p:nvPr/>
        </p:nvSpPr>
        <p:spPr>
          <a:xfrm>
            <a:off x="9738360" y="2121794"/>
            <a:ext cx="1993392" cy="2495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40082"/>
            <a:ext cx="1901952" cy="212952"/>
          </a:xfrm>
          <a:prstGeom prst="rect">
            <a:avLst/>
          </a:prstGeom>
          <a:noFill/>
        </p:spPr>
        <p:txBody>
          <a:bodyPr wrap="square" lIns="36000" rIns="36000" tIns="18000" bIns="18000" anchor="t">
            <a:spAutoFit/>
          </a:bodyPr>
          <a:lstStyle/>
          <a:p>
            <a:pPr algn="l"/>
            <a:r>
              <a:rPr sz="800" b="1">
                <a:solidFill>
                  <a:srgbClr val="0B142A"/>
                </a:solidFill>
                <a:latin typeface="Yu Gothic UI"/>
              </a:rPr>
              <a:t>AI・技術 18%</a:t>
            </a:r>
          </a:p>
        </p:txBody>
      </p:sp>
      <p:sp>
        <p:nvSpPr>
          <p:cNvPr id="79" name="Rectangle 78"/>
          <p:cNvSpPr/>
          <p:nvPr/>
        </p:nvSpPr>
        <p:spPr>
          <a:xfrm>
            <a:off x="9738360" y="2371322"/>
            <a:ext cx="1993392" cy="15969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531020"/>
            <a:ext cx="1993392" cy="104801"/>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35822"/>
            <a:ext cx="1993392" cy="84839"/>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720661"/>
            <a:ext cx="1993392" cy="7485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6" name="TextBox 85"/>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87" name="Rectangle 86"/>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49</a:t>
            </a:r>
          </a:p>
        </p:txBody>
      </p:sp>
      <p:sp>
        <p:nvSpPr>
          <p:cNvPr id="90" name="TextBox 89"/>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1" name="Rectangle 90"/>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601200" y="3803904"/>
            <a:ext cx="1343608"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36</a:t>
            </a:r>
          </a:p>
        </p:txBody>
      </p:sp>
      <p:sp>
        <p:nvSpPr>
          <p:cNvPr id="94" name="TextBox 93"/>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95" name="Rectangle 94"/>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601200" y="3968496"/>
            <a:ext cx="1156995"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31</a:t>
            </a:r>
          </a:p>
        </p:txBody>
      </p:sp>
      <p:sp>
        <p:nvSpPr>
          <p:cNvPr id="98" name="TextBox 97"/>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99" name="Rectangle 98"/>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601200" y="4133088"/>
            <a:ext cx="1082351"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29</a:t>
            </a:r>
          </a:p>
        </p:txBody>
      </p:sp>
      <p:sp>
        <p:nvSpPr>
          <p:cNvPr id="102" name="TextBox 101"/>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CoinPost</a:t>
            </a:r>
          </a:p>
        </p:txBody>
      </p:sp>
      <p:sp>
        <p:nvSpPr>
          <p:cNvPr id="103" name="Rectangle 102"/>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601200" y="4297680"/>
            <a:ext cx="895738"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24</a:t>
            </a:r>
          </a:p>
        </p:txBody>
      </p:sp>
      <p:sp>
        <p:nvSpPr>
          <p:cNvPr id="106" name="TextBox 105"/>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7" name="Rectangle 106"/>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601200" y="4462272"/>
            <a:ext cx="821093"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22</a:t>
            </a:r>
          </a:p>
        </p:txBody>
      </p:sp>
      <p:sp>
        <p:nvSpPr>
          <p:cNvPr id="110" name="Rectangle 109"/>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3" name="Rounded Rectangle 112"/>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233</a:t>
            </a:r>
          </a:p>
        </p:txBody>
      </p:sp>
      <p:sp>
        <p:nvSpPr>
          <p:cNvPr id="115" name="Rounded Rectangle 114"/>
          <p:cNvSpPr/>
          <p:nvPr/>
        </p:nvSpPr>
        <p:spPr>
          <a:xfrm>
            <a:off x="8065008"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110728" y="517550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31</a:t>
            </a:r>
          </a:p>
        </p:txBody>
      </p:sp>
      <p:sp>
        <p:nvSpPr>
          <p:cNvPr id="117" name="Rounded Rectangle 116"/>
          <p:cNvSpPr/>
          <p:nvPr/>
        </p:nvSpPr>
        <p:spPr>
          <a:xfrm>
            <a:off x="8769096" y="515721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814816" y="517550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30</a:t>
            </a:r>
          </a:p>
        </p:txBody>
      </p:sp>
      <p:sp>
        <p:nvSpPr>
          <p:cNvPr id="119" name="Rounded Rectangle 118"/>
          <p:cNvSpPr/>
          <p:nvPr/>
        </p:nvSpPr>
        <p:spPr>
          <a:xfrm>
            <a:off x="10204703"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0250423"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26</a:t>
            </a:r>
          </a:p>
        </p:txBody>
      </p:sp>
      <p:sp>
        <p:nvSpPr>
          <p:cNvPr id="121" name="Rounded Rectangle 120"/>
          <p:cNvSpPr/>
          <p:nvPr/>
        </p:nvSpPr>
        <p:spPr>
          <a:xfrm>
            <a:off x="11000231"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1045951"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25</a:t>
            </a:r>
          </a:p>
        </p:txBody>
      </p:sp>
      <p:sp>
        <p:nvSpPr>
          <p:cNvPr id="123" name="Rounded Rectangle 122"/>
          <p:cNvSpPr/>
          <p:nvPr/>
        </p:nvSpPr>
        <p:spPr>
          <a:xfrm>
            <a:off x="7360920" y="543153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406640" y="544982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21</a:t>
            </a:r>
          </a:p>
        </p:txBody>
      </p:sp>
      <p:sp>
        <p:nvSpPr>
          <p:cNvPr id="125" name="Rounded Rectangle 124"/>
          <p:cNvSpPr/>
          <p:nvPr/>
        </p:nvSpPr>
        <p:spPr>
          <a:xfrm>
            <a:off x="8522208" y="543153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567928" y="544982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19</a:t>
            </a:r>
          </a:p>
        </p:txBody>
      </p:sp>
      <p:sp>
        <p:nvSpPr>
          <p:cNvPr id="127" name="Rounded Rectangle 126"/>
          <p:cNvSpPr/>
          <p:nvPr/>
        </p:nvSpPr>
        <p:spPr>
          <a:xfrm>
            <a:off x="9774936" y="543153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820656" y="544982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Circle 19</a:t>
            </a:r>
          </a:p>
        </p:txBody>
      </p:sp>
      <p:sp>
        <p:nvSpPr>
          <p:cNvPr id="129" name="Rounded Rectangle 128"/>
          <p:cNvSpPr/>
          <p:nvPr/>
        </p:nvSpPr>
        <p:spPr>
          <a:xfrm>
            <a:off x="10844784" y="543153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890504" y="544982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18</a:t>
            </a:r>
          </a:p>
        </p:txBody>
      </p:sp>
      <p:sp>
        <p:nvSpPr>
          <p:cNvPr id="131" name="Rounded Rectangle 130"/>
          <p:cNvSpPr/>
          <p:nvPr/>
        </p:nvSpPr>
        <p:spPr>
          <a:xfrm>
            <a:off x="7360920" y="570585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406640" y="572414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15</a:t>
            </a:r>
          </a:p>
        </p:txBody>
      </p:sp>
      <p:sp>
        <p:nvSpPr>
          <p:cNvPr id="133" name="Rounded Rectangle 132"/>
          <p:cNvSpPr/>
          <p:nvPr/>
        </p:nvSpPr>
        <p:spPr>
          <a:xfrm>
            <a:off x="8156448" y="570585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202168" y="572414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法案 14</a:t>
            </a:r>
          </a:p>
        </p:txBody>
      </p:sp>
      <p:sp>
        <p:nvSpPr>
          <p:cNvPr id="135" name="Rounded Rectangle 134"/>
          <p:cNvSpPr/>
          <p:nvPr/>
        </p:nvSpPr>
        <p:spPr>
          <a:xfrm>
            <a:off x="8860536" y="570585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906256" y="572414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規制 13</a:t>
            </a:r>
          </a:p>
        </p:txBody>
      </p:sp>
      <p:sp>
        <p:nvSpPr>
          <p:cNvPr id="137" name="Rounded Rectangle 136"/>
          <p:cNvSpPr/>
          <p:nvPr/>
        </p:nvSpPr>
        <p:spPr>
          <a:xfrm>
            <a:off x="9564624"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610344"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13</a:t>
            </a:r>
          </a:p>
        </p:txBody>
      </p:sp>
      <p:sp>
        <p:nvSpPr>
          <p:cNvPr id="139" name="Rounded Rectangle 138"/>
          <p:cNvSpPr/>
          <p:nvPr/>
        </p:nvSpPr>
        <p:spPr>
          <a:xfrm>
            <a:off x="10543032"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0588752"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Layer 13</a:t>
            </a:r>
          </a:p>
        </p:txBody>
      </p:sp>
      <p:sp>
        <p:nvSpPr>
          <p:cNvPr id="141" name="Rounded Rectangle 140"/>
          <p:cNvSpPr/>
          <p:nvPr/>
        </p:nvSpPr>
        <p:spPr>
          <a:xfrm>
            <a:off x="7360920"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406640"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12</a:t>
            </a:r>
          </a:p>
        </p:txBody>
      </p:sp>
      <p:sp>
        <p:nvSpPr>
          <p:cNvPr id="143" name="Rounded Rectangle 142"/>
          <p:cNvSpPr/>
          <p:nvPr/>
        </p:nvSpPr>
        <p:spPr>
          <a:xfrm>
            <a:off x="8065008"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8110728"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USDC 10</a:t>
            </a:r>
          </a:p>
        </p:txBody>
      </p:sp>
      <p:sp>
        <p:nvSpPr>
          <p:cNvPr id="145" name="Rounded Rectangle 144"/>
          <p:cNvSpPr/>
          <p:nvPr/>
        </p:nvSpPr>
        <p:spPr>
          <a:xfrm>
            <a:off x="8951976"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8997696"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9</a:t>
            </a:r>
          </a:p>
        </p:txBody>
      </p:sp>
      <p:sp>
        <p:nvSpPr>
          <p:cNvPr id="147" name="Rounded Rectangle 146"/>
          <p:cNvSpPr/>
          <p:nvPr/>
        </p:nvSpPr>
        <p:spPr>
          <a:xfrm>
            <a:off x="9838944" y="598017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9884664" y="599846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Mining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2026-05-13</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(水)</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320</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72</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248</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5</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北朝鮮、仮想通貨窃取を「国家事業化」か　10年で1兆円超の被害＝CertiKレポート</a:t>
            </a:r>
          </a:p>
          <a:p>
            <a:pPr algn="l"/>
            <a:r>
              <a:rPr sz="850" b="1">
                <a:solidFill>
                  <a:srgbClr val="FF3D8A"/>
                </a:solidFill>
                <a:latin typeface="Yu Gothic UI"/>
              </a:rPr>
              <a:t>CoinPost  ·  14:30  ·  セキュリティ</a:t>
            </a:r>
          </a:p>
          <a:p>
            <a:pPr algn="l"/>
            <a:r>
              <a:rPr sz="900" b="0">
                <a:solidFill>
                  <a:srgbClr val="9AA8C4"/>
                </a:solidFill>
                <a:latin typeface="Yu Gothic UI"/>
              </a:rPr>
              <a:t>ブロックチェーンセキュリティ企業CertiKは最新レポートで、北朝鮮は近年、仮想通貨ハッキングを国家的な資金調達手段として組織化・産業化していると指摘した。2016年以降、263件の攻撃で約67.5億ドルを窃取。少数の「高価値ターゲット」に狙いを定め、国家…</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Anthropic、9000億ドル評価報道の裏で関連トークン45％急落──無許可の株式譲渡警告が波紋【価格分析】</a:t>
            </a:r>
          </a:p>
          <a:p>
            <a:pPr algn="l"/>
            <a:r>
              <a:rPr sz="850" b="1">
                <a:solidFill>
                  <a:srgbClr val="FF3D8A"/>
                </a:solidFill>
                <a:latin typeface="Yu Gothic UI"/>
              </a:rPr>
              <a:t>CoinDesk Japan  ·  15:43  ·  価格・市場</a:t>
            </a:r>
          </a:p>
          <a:p>
            <a:pPr algn="l"/>
            <a:r>
              <a:rPr sz="900" b="0">
                <a:solidFill>
                  <a:srgbClr val="9AA8C4"/>
                </a:solidFill>
                <a:latin typeface="Yu Gothic UI"/>
              </a:rPr>
              <a:t>・Anthropicは、9000億ドルを超える評価額で、少なくとも300億ドルの資金調達を目指していると報じられている。・Solana上のAnthropic関連 ...</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バイナンス、AI活用で約1.6兆円の詐欺被害を防止</a:t>
            </a:r>
          </a:p>
          <a:p>
            <a:pPr algn="l"/>
            <a:r>
              <a:rPr sz="850" b="1">
                <a:solidFill>
                  <a:srgbClr val="FFC107"/>
                </a:solidFill>
                <a:latin typeface="Yu Gothic UI"/>
              </a:rPr>
              <a:t>あたらしい経済  ·  16:16  ·  セキュリティ</a:t>
            </a:r>
          </a:p>
          <a:p>
            <a:pPr algn="l"/>
            <a:r>
              <a:rPr sz="900" b="0">
                <a:solidFill>
                  <a:srgbClr val="9AA8C4"/>
                </a:solidFill>
                <a:latin typeface="Yu Gothic UI"/>
              </a:rPr>
              <a:t>不正検知・詐欺防止を報告 バイナンス（Binance）が2025年初頭から2026年第1四半期にかけて、累計105億3,000万ドル（約1兆6,577億円）にのぼるユーザー被害を防いだと5月11日報告した。対象ユーザー数 [&amp;#8230;]</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アンソロピック、トークン化された自社株に警告　権利は認めず「無効」を明言</a:t>
            </a:r>
          </a:p>
          <a:p>
            <a:pPr algn="l"/>
            <a:r>
              <a:rPr sz="850" b="1">
                <a:solidFill>
                  <a:srgbClr val="FFC107"/>
                </a:solidFill>
                <a:latin typeface="Yu Gothic UI"/>
              </a:rPr>
              <a:t>CoinPost  ·  10:46  ·  規制・政策</a:t>
            </a:r>
          </a:p>
          <a:p>
            <a:pPr algn="l"/>
            <a:r>
              <a:rPr sz="900" b="0">
                <a:solidFill>
                  <a:srgbClr val="9AA8C4"/>
                </a:solidFill>
                <a:latin typeface="Yu Gothic UI"/>
              </a:rPr>
              <a:t>Anthropicが未承認の株式譲渡を「無効」と警告。SPVやトークン化証券、先渡契約を対象とし、HiiveやForgeなどを名指しした。二次市場の評価額は1兆ドル超え規模に達している。</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米上院、ウォーシュ氏のFRB理事就任を承認　議長就任への採決は今週予定</a:t>
            </a:r>
          </a:p>
          <a:p>
            <a:pPr algn="l"/>
            <a:r>
              <a:rPr sz="850" b="1">
                <a:solidFill>
                  <a:srgbClr val="4AE3A3"/>
                </a:solidFill>
                <a:latin typeface="Yu Gothic UI"/>
              </a:rPr>
              <a:t>CoinPost  ·  07:05  ·  規制・政策</a:t>
            </a:r>
          </a:p>
          <a:p>
            <a:pPr algn="l"/>
            <a:r>
              <a:rPr sz="900" b="0">
                <a:solidFill>
                  <a:srgbClr val="9AA8C4"/>
                </a:solidFill>
                <a:latin typeface="Yu Gothic UI"/>
              </a:rPr>
              <a:t>米上院は5月12日、ケビン・ウォーシュ氏を連邦準備制度理事会（FRB）理事として51対45で承認した。議長としての承認採決は今週中に予定され、パウエル議長の任期は今週金曜に終了する。</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84</a:t>
            </a:r>
          </a:p>
        </p:txBody>
      </p:sp>
      <p:sp>
        <p:nvSpPr>
          <p:cNvPr id="54" name="Rectangle 53"/>
          <p:cNvSpPr/>
          <p:nvPr/>
        </p:nvSpPr>
        <p:spPr>
          <a:xfrm>
            <a:off x="7315200" y="1636776"/>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78</a:t>
            </a:r>
          </a:p>
        </p:txBody>
      </p:sp>
      <p:sp>
        <p:nvSpPr>
          <p:cNvPr id="57" name="Rectangle 56"/>
          <p:cNvSpPr/>
          <p:nvPr/>
        </p:nvSpPr>
        <p:spPr>
          <a:xfrm>
            <a:off x="7315200" y="1847088"/>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46</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31</a:t>
            </a:r>
          </a:p>
        </p:txBody>
      </p:sp>
      <p:sp>
        <p:nvSpPr>
          <p:cNvPr id="63" name="Rectangle 62"/>
          <p:cNvSpPr/>
          <p:nvPr/>
        </p:nvSpPr>
        <p:spPr>
          <a:xfrm>
            <a:off x="7315200" y="2267712"/>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20</a:t>
            </a:r>
          </a:p>
        </p:txBody>
      </p:sp>
      <p:sp>
        <p:nvSpPr>
          <p:cNvPr id="66" name="Rectangle 65"/>
          <p:cNvSpPr/>
          <p:nvPr/>
        </p:nvSpPr>
        <p:spPr>
          <a:xfrm>
            <a:off x="7315200" y="2478024"/>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19</a:t>
            </a:r>
          </a:p>
        </p:txBody>
      </p:sp>
      <p:sp>
        <p:nvSpPr>
          <p:cNvPr id="69" name="Rectangle 68"/>
          <p:cNvSpPr/>
          <p:nvPr/>
        </p:nvSpPr>
        <p:spPr>
          <a:xfrm>
            <a:off x="7315200" y="2688336"/>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18</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372046"/>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35470"/>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26%</a:t>
            </a:r>
          </a:p>
        </p:txBody>
      </p:sp>
      <p:sp>
        <p:nvSpPr>
          <p:cNvPr id="75" name="Rectangle 74"/>
          <p:cNvSpPr/>
          <p:nvPr/>
        </p:nvSpPr>
        <p:spPr>
          <a:xfrm>
            <a:off x="9738360" y="1835086"/>
            <a:ext cx="1993392" cy="345471"/>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53374"/>
            <a:ext cx="1901952" cy="308895"/>
          </a:xfrm>
          <a:prstGeom prst="rect">
            <a:avLst/>
          </a:prstGeom>
          <a:noFill/>
        </p:spPr>
        <p:txBody>
          <a:bodyPr wrap="square" lIns="36000" rIns="36000" tIns="18000" bIns="18000" anchor="t">
            <a:spAutoFit/>
          </a:bodyPr>
          <a:lstStyle/>
          <a:p>
            <a:pPr algn="l"/>
            <a:r>
              <a:rPr sz="800" b="1">
                <a:solidFill>
                  <a:srgbClr val="0B142A"/>
                </a:solidFill>
                <a:latin typeface="Yu Gothic UI"/>
              </a:rPr>
              <a:t>その他 24%</a:t>
            </a:r>
          </a:p>
        </p:txBody>
      </p:sp>
      <p:sp>
        <p:nvSpPr>
          <p:cNvPr id="77" name="Rectangle 76"/>
          <p:cNvSpPr/>
          <p:nvPr/>
        </p:nvSpPr>
        <p:spPr>
          <a:xfrm>
            <a:off x="9738360" y="2180558"/>
            <a:ext cx="1993392" cy="203739"/>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98846"/>
            <a:ext cx="1901952" cy="167163"/>
          </a:xfrm>
          <a:prstGeom prst="rect">
            <a:avLst/>
          </a:prstGeom>
          <a:noFill/>
        </p:spPr>
        <p:txBody>
          <a:bodyPr wrap="square" lIns="36000" rIns="36000" tIns="18000" bIns="18000" anchor="t">
            <a:spAutoFit/>
          </a:bodyPr>
          <a:lstStyle/>
          <a:p>
            <a:pPr algn="l"/>
            <a:r>
              <a:rPr sz="800" b="1">
                <a:solidFill>
                  <a:srgbClr val="0B142A"/>
                </a:solidFill>
                <a:latin typeface="Yu Gothic UI"/>
              </a:rPr>
              <a:t>AI・技術 14%</a:t>
            </a:r>
          </a:p>
        </p:txBody>
      </p:sp>
      <p:sp>
        <p:nvSpPr>
          <p:cNvPr id="79" name="Rectangle 78"/>
          <p:cNvSpPr/>
          <p:nvPr/>
        </p:nvSpPr>
        <p:spPr>
          <a:xfrm>
            <a:off x="9738360" y="2384298"/>
            <a:ext cx="1993392" cy="137302"/>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521600"/>
            <a:ext cx="1993392" cy="8858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10183"/>
            <a:ext cx="1993392" cy="84153"/>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694336"/>
            <a:ext cx="1993392" cy="79724"/>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74061"/>
            <a:ext cx="1993392" cy="62007"/>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7" name="TextBox 86"/>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88" name="Rectangle 87"/>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51</a:t>
            </a:r>
          </a:p>
        </p:txBody>
      </p:sp>
      <p:sp>
        <p:nvSpPr>
          <p:cNvPr id="91" name="TextBox 90"/>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2" name="Rectangle 91"/>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601200" y="3803904"/>
            <a:ext cx="1434352"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40</a:t>
            </a:r>
          </a:p>
        </p:txBody>
      </p:sp>
      <p:sp>
        <p:nvSpPr>
          <p:cNvPr id="95" name="TextBox 94"/>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96" name="Rectangle 95"/>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601200" y="3968496"/>
            <a:ext cx="1290917"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36</a:t>
            </a:r>
          </a:p>
        </p:txBody>
      </p:sp>
      <p:sp>
        <p:nvSpPr>
          <p:cNvPr id="99" name="TextBox 98"/>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CoinPost</a:t>
            </a:r>
          </a:p>
        </p:txBody>
      </p:sp>
      <p:sp>
        <p:nvSpPr>
          <p:cNvPr id="100" name="Rectangle 99"/>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601200" y="4133088"/>
            <a:ext cx="1147482"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32</a:t>
            </a:r>
          </a:p>
        </p:txBody>
      </p:sp>
      <p:sp>
        <p:nvSpPr>
          <p:cNvPr id="103" name="TextBox 102"/>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4" name="Rectangle 103"/>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601200" y="4297680"/>
            <a:ext cx="1147482"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32</a:t>
            </a:r>
          </a:p>
        </p:txBody>
      </p:sp>
      <p:sp>
        <p:nvSpPr>
          <p:cNvPr id="107" name="TextBox 106"/>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108" name="Rectangle 107"/>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601200" y="4462272"/>
            <a:ext cx="932329"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26</a:t>
            </a:r>
          </a:p>
        </p:txBody>
      </p:sp>
      <p:sp>
        <p:nvSpPr>
          <p:cNvPr id="111" name="Rectangle 110"/>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4" name="Rounded Rectangle 113"/>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240</a:t>
            </a:r>
          </a:p>
        </p:txBody>
      </p:sp>
      <p:sp>
        <p:nvSpPr>
          <p:cNvPr id="116" name="Rounded Rectangle 115"/>
          <p:cNvSpPr/>
          <p:nvPr/>
        </p:nvSpPr>
        <p:spPr>
          <a:xfrm>
            <a:off x="8065008"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110728" y="5175504"/>
            <a:ext cx="55778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EU 42</a:t>
            </a:r>
          </a:p>
        </p:txBody>
      </p:sp>
      <p:sp>
        <p:nvSpPr>
          <p:cNvPr id="118" name="Rounded Rectangle 117"/>
          <p:cNvSpPr/>
          <p:nvPr/>
        </p:nvSpPr>
        <p:spPr>
          <a:xfrm>
            <a:off x="8769096"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814816" y="5175504"/>
            <a:ext cx="64922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ANA 42</a:t>
            </a:r>
          </a:p>
        </p:txBody>
      </p:sp>
      <p:sp>
        <p:nvSpPr>
          <p:cNvPr id="120" name="Rounded Rectangle 119"/>
          <p:cNvSpPr/>
          <p:nvPr/>
        </p:nvSpPr>
        <p:spPr>
          <a:xfrm>
            <a:off x="9564624"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610344"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37</a:t>
            </a:r>
          </a:p>
        </p:txBody>
      </p:sp>
      <p:sp>
        <p:nvSpPr>
          <p:cNvPr id="122" name="Rounded Rectangle 121"/>
          <p:cNvSpPr/>
          <p:nvPr/>
        </p:nvSpPr>
        <p:spPr>
          <a:xfrm>
            <a:off x="10360152"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0405872"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25</a:t>
            </a:r>
          </a:p>
        </p:txBody>
      </p:sp>
      <p:sp>
        <p:nvSpPr>
          <p:cNvPr id="124" name="Rounded Rectangle 123"/>
          <p:cNvSpPr/>
          <p:nvPr/>
        </p:nvSpPr>
        <p:spPr>
          <a:xfrm>
            <a:off x="7360920" y="543153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406640" y="544982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25</a:t>
            </a:r>
          </a:p>
        </p:txBody>
      </p:sp>
      <p:sp>
        <p:nvSpPr>
          <p:cNvPr id="126" name="Rounded Rectangle 125"/>
          <p:cNvSpPr/>
          <p:nvPr/>
        </p:nvSpPr>
        <p:spPr>
          <a:xfrm>
            <a:off x="8796527" y="543153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842247" y="544982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20</a:t>
            </a:r>
          </a:p>
        </p:txBody>
      </p:sp>
      <p:sp>
        <p:nvSpPr>
          <p:cNvPr id="128" name="Rounded Rectangle 127"/>
          <p:cNvSpPr/>
          <p:nvPr/>
        </p:nvSpPr>
        <p:spPr>
          <a:xfrm>
            <a:off x="9957815" y="543153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0003535" y="544982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Circle 17</a:t>
            </a:r>
          </a:p>
        </p:txBody>
      </p:sp>
      <p:sp>
        <p:nvSpPr>
          <p:cNvPr id="130" name="Rounded Rectangle 129"/>
          <p:cNvSpPr/>
          <p:nvPr/>
        </p:nvSpPr>
        <p:spPr>
          <a:xfrm>
            <a:off x="11027663"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073383"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法案 16</a:t>
            </a:r>
          </a:p>
        </p:txBody>
      </p:sp>
      <p:sp>
        <p:nvSpPr>
          <p:cNvPr id="132" name="Rounded Rectangle 131"/>
          <p:cNvSpPr/>
          <p:nvPr/>
        </p:nvSpPr>
        <p:spPr>
          <a:xfrm>
            <a:off x="7360920"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406640"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16</a:t>
            </a:r>
          </a:p>
        </p:txBody>
      </p:sp>
      <p:sp>
        <p:nvSpPr>
          <p:cNvPr id="134" name="Rounded Rectangle 133"/>
          <p:cNvSpPr/>
          <p:nvPr/>
        </p:nvSpPr>
        <p:spPr>
          <a:xfrm>
            <a:off x="8339328" y="570585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385048" y="572414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OpenAI 14</a:t>
            </a:r>
          </a:p>
        </p:txBody>
      </p:sp>
      <p:sp>
        <p:nvSpPr>
          <p:cNvPr id="136" name="Rounded Rectangle 135"/>
          <p:cNvSpPr/>
          <p:nvPr/>
        </p:nvSpPr>
        <p:spPr>
          <a:xfrm>
            <a:off x="9409176"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454896"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13</a:t>
            </a:r>
          </a:p>
        </p:txBody>
      </p:sp>
      <p:sp>
        <p:nvSpPr>
          <p:cNvPr id="138" name="Rounded Rectangle 137"/>
          <p:cNvSpPr/>
          <p:nvPr/>
        </p:nvSpPr>
        <p:spPr>
          <a:xfrm>
            <a:off x="10296144"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0341864"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11</a:t>
            </a:r>
          </a:p>
        </p:txBody>
      </p:sp>
      <p:sp>
        <p:nvSpPr>
          <p:cNvPr id="140" name="Rounded Rectangle 139"/>
          <p:cNvSpPr/>
          <p:nvPr/>
        </p:nvSpPr>
        <p:spPr>
          <a:xfrm>
            <a:off x="7360920" y="598017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406640" y="599846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11</a:t>
            </a:r>
          </a:p>
        </p:txBody>
      </p:sp>
      <p:sp>
        <p:nvSpPr>
          <p:cNvPr id="142" name="Rounded Rectangle 141"/>
          <p:cNvSpPr/>
          <p:nvPr/>
        </p:nvSpPr>
        <p:spPr>
          <a:xfrm>
            <a:off x="8613648" y="598017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659368" y="599846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ATH 11</a:t>
            </a:r>
          </a:p>
        </p:txBody>
      </p:sp>
      <p:sp>
        <p:nvSpPr>
          <p:cNvPr id="144" name="Rounded Rectangle 143"/>
          <p:cNvSpPr/>
          <p:nvPr/>
        </p:nvSpPr>
        <p:spPr>
          <a:xfrm>
            <a:off x="9409176"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454896"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上院 10</a:t>
            </a:r>
          </a:p>
        </p:txBody>
      </p:sp>
      <p:sp>
        <p:nvSpPr>
          <p:cNvPr id="146" name="Rounded Rectangle 145"/>
          <p:cNvSpPr/>
          <p:nvPr/>
        </p:nvSpPr>
        <p:spPr>
          <a:xfrm>
            <a:off x="10113264"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0158984"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10</a:t>
            </a:r>
          </a:p>
        </p:txBody>
      </p:sp>
      <p:sp>
        <p:nvSpPr>
          <p:cNvPr id="148" name="Rounded Rectangle 147"/>
          <p:cNvSpPr/>
          <p:nvPr/>
        </p:nvSpPr>
        <p:spPr>
          <a:xfrm>
            <a:off x="7360920" y="625449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7406640" y="627278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exploit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2026-05-14</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(木)</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310</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72</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238</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11</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北朝鮮、仮想通貨窃取を「国家事業化」か　10年で1兆円超の被害＝CertiKレポート</a:t>
            </a:r>
          </a:p>
          <a:p>
            <a:pPr algn="l"/>
            <a:r>
              <a:rPr sz="850" b="1">
                <a:solidFill>
                  <a:srgbClr val="FF3D8A"/>
                </a:solidFill>
                <a:latin typeface="Yu Gothic UI"/>
              </a:rPr>
              <a:t>CoinPost  ·  14:30  ·  セキュリティ</a:t>
            </a:r>
          </a:p>
          <a:p>
            <a:pPr algn="l"/>
            <a:r>
              <a:rPr sz="900" b="0">
                <a:solidFill>
                  <a:srgbClr val="9AA8C4"/>
                </a:solidFill>
                <a:latin typeface="Yu Gothic UI"/>
              </a:rPr>
              <a:t>ブロックチェーンセキュリティ企業CertiKは最新レポートで、北朝鮮は近年、仮想通貨ハッキングを国家的な資金調達手段として組織化・産業化していると指摘した。2016年以降、263件の攻撃で約67.5億ドルを窃取。少数の「高価値ターゲット」に狙いを定め、国家…</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米上院、暗号資産に友好的なケビン・ウォーシュ氏のFRB議長就任を承認</a:t>
            </a:r>
          </a:p>
          <a:p>
            <a:pPr algn="l"/>
            <a:r>
              <a:rPr sz="850" b="1">
                <a:solidFill>
                  <a:srgbClr val="FF3D8A"/>
                </a:solidFill>
                <a:latin typeface="Yu Gothic UI"/>
              </a:rPr>
              <a:t>CoinDesk Japan  ·  16:30  ·  規制・政策</a:t>
            </a:r>
          </a:p>
          <a:p>
            <a:pPr algn="l"/>
            <a:r>
              <a:rPr sz="900" b="0">
                <a:solidFill>
                  <a:srgbClr val="9AA8C4"/>
                </a:solidFill>
                <a:latin typeface="Yu Gothic UI"/>
              </a:rPr>
              <a:t>アメリカ議会上院は5月13日、Donald Trump（ドナルド・トランプ）大統領が指名したKevin Warsh（ケビン・ウォーシュ）氏を連邦準備制度理事会（ ...</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Jane Street、ビットコインETFとStrategy株を8.4億ドル削減──ETH・AI関連へ資金シフト</a:t>
            </a:r>
          </a:p>
          <a:p>
            <a:pPr algn="l"/>
            <a:r>
              <a:rPr sz="850" b="1">
                <a:solidFill>
                  <a:srgbClr val="FFC107"/>
                </a:solidFill>
                <a:latin typeface="Yu Gothic UI"/>
              </a:rPr>
              <a:t>CoinDesk Japan  ·  14:28  ·  ETF・機関</a:t>
            </a:r>
          </a:p>
          <a:p>
            <a:pPr algn="l"/>
            <a:r>
              <a:rPr sz="900" b="0">
                <a:solidFill>
                  <a:srgbClr val="9AA8C4"/>
                </a:solidFill>
                <a:latin typeface="Yu Gothic UI"/>
              </a:rPr>
              <a:t>・Jane Streetは2026年第1四半期、ビットコインETFとStrategy株へのエクスポージャーを8億4000万ドル超削減する一方、イーサリアムETF ...</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Polymarketの月間取引高、2025年8月以来初の減少──予測市場の競争激化</a:t>
            </a:r>
          </a:p>
          <a:p>
            <a:pPr algn="l"/>
            <a:r>
              <a:rPr sz="850" b="1">
                <a:solidFill>
                  <a:srgbClr val="FFC107"/>
                </a:solidFill>
                <a:latin typeface="Yu Gothic UI"/>
              </a:rPr>
              <a:t>CoinDesk Japan  ·  14:25  ·  価格・市場</a:t>
            </a:r>
          </a:p>
          <a:p>
            <a:pPr algn="l"/>
            <a:r>
              <a:rPr sz="900" b="0">
                <a:solidFill>
                  <a:srgbClr val="9AA8C4"/>
                </a:solidFill>
                <a:latin typeface="Yu Gothic UI"/>
              </a:rPr>
              <a:t>Dune Analyticsのデータによると、予測市場プラットフォームPolymarket（ポリマーケット）の4月の月間取引高は、3月の112億ドル（約1兆73 ...</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Anthropic、9000億ドル評価報道の裏で関連トークン45％急落──無許可の株式譲渡警告が波紋【価格分析】</a:t>
            </a:r>
          </a:p>
          <a:p>
            <a:pPr algn="l"/>
            <a:r>
              <a:rPr sz="850" b="1">
                <a:solidFill>
                  <a:srgbClr val="4AE3A3"/>
                </a:solidFill>
                <a:latin typeface="Yu Gothic UI"/>
              </a:rPr>
              <a:t>CoinDesk Japan  ·  15:43  ·  価格・市場</a:t>
            </a:r>
          </a:p>
          <a:p>
            <a:pPr algn="l"/>
            <a:r>
              <a:rPr sz="900" b="0">
                <a:solidFill>
                  <a:srgbClr val="9AA8C4"/>
                </a:solidFill>
                <a:latin typeface="Yu Gothic UI"/>
              </a:rPr>
              <a:t>・Anthropicは、9000億ドルを超える評価額で、少なくとも300億ドルの資金調達を目指していると報じられている。・Solana上のAnthropic関連 ...</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80</a:t>
            </a:r>
          </a:p>
        </p:txBody>
      </p:sp>
      <p:sp>
        <p:nvSpPr>
          <p:cNvPr id="54" name="Rectangle 53"/>
          <p:cNvSpPr/>
          <p:nvPr/>
        </p:nvSpPr>
        <p:spPr>
          <a:xfrm>
            <a:off x="7315200" y="1636776"/>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66</a:t>
            </a:r>
          </a:p>
        </p:txBody>
      </p:sp>
      <p:sp>
        <p:nvSpPr>
          <p:cNvPr id="57" name="Rectangle 56"/>
          <p:cNvSpPr/>
          <p:nvPr/>
        </p:nvSpPr>
        <p:spPr>
          <a:xfrm>
            <a:off x="7315200" y="1847088"/>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52</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33</a:t>
            </a:r>
          </a:p>
        </p:txBody>
      </p:sp>
      <p:sp>
        <p:nvSpPr>
          <p:cNvPr id="63" name="Rectangle 62"/>
          <p:cNvSpPr/>
          <p:nvPr/>
        </p:nvSpPr>
        <p:spPr>
          <a:xfrm>
            <a:off x="7315200" y="2267712"/>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22</a:t>
            </a:r>
          </a:p>
        </p:txBody>
      </p:sp>
      <p:sp>
        <p:nvSpPr>
          <p:cNvPr id="66" name="Rectangle 65"/>
          <p:cNvSpPr/>
          <p:nvPr/>
        </p:nvSpPr>
        <p:spPr>
          <a:xfrm>
            <a:off x="7315200" y="2478024"/>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19</a:t>
            </a:r>
          </a:p>
        </p:txBody>
      </p:sp>
      <p:sp>
        <p:nvSpPr>
          <p:cNvPr id="69" name="Rectangle 68"/>
          <p:cNvSpPr/>
          <p:nvPr/>
        </p:nvSpPr>
        <p:spPr>
          <a:xfrm>
            <a:off x="7315200" y="2688336"/>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19</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365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29184"/>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26%</a:t>
            </a:r>
          </a:p>
        </p:txBody>
      </p:sp>
      <p:sp>
        <p:nvSpPr>
          <p:cNvPr id="75" name="Rectangle 74"/>
          <p:cNvSpPr/>
          <p:nvPr/>
        </p:nvSpPr>
        <p:spPr>
          <a:xfrm>
            <a:off x="9738360" y="1828800"/>
            <a:ext cx="1993392" cy="301752"/>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47088"/>
            <a:ext cx="1901952" cy="265176"/>
          </a:xfrm>
          <a:prstGeom prst="rect">
            <a:avLst/>
          </a:prstGeom>
          <a:noFill/>
        </p:spPr>
        <p:txBody>
          <a:bodyPr wrap="square" lIns="36000" rIns="36000" tIns="18000" bIns="18000" anchor="t">
            <a:spAutoFit/>
          </a:bodyPr>
          <a:lstStyle/>
          <a:p>
            <a:pPr algn="l"/>
            <a:r>
              <a:rPr sz="800" b="1">
                <a:solidFill>
                  <a:srgbClr val="0B142A"/>
                </a:solidFill>
                <a:latin typeface="Yu Gothic UI"/>
              </a:rPr>
              <a:t>その他 21%</a:t>
            </a:r>
          </a:p>
        </p:txBody>
      </p:sp>
      <p:sp>
        <p:nvSpPr>
          <p:cNvPr id="77" name="Rectangle 76"/>
          <p:cNvSpPr/>
          <p:nvPr/>
        </p:nvSpPr>
        <p:spPr>
          <a:xfrm>
            <a:off x="9738360" y="2130552"/>
            <a:ext cx="1993392" cy="237744"/>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48840"/>
            <a:ext cx="1901952" cy="201168"/>
          </a:xfrm>
          <a:prstGeom prst="rect">
            <a:avLst/>
          </a:prstGeom>
          <a:noFill/>
        </p:spPr>
        <p:txBody>
          <a:bodyPr wrap="square" lIns="36000" rIns="36000" tIns="18000" bIns="18000" anchor="t">
            <a:spAutoFit/>
          </a:bodyPr>
          <a:lstStyle/>
          <a:p>
            <a:pPr algn="l"/>
            <a:r>
              <a:rPr sz="800" b="1">
                <a:solidFill>
                  <a:srgbClr val="0B142A"/>
                </a:solidFill>
                <a:latin typeface="Yu Gothic UI"/>
              </a:rPr>
              <a:t>AI・技術 17%</a:t>
            </a:r>
          </a:p>
        </p:txBody>
      </p:sp>
      <p:sp>
        <p:nvSpPr>
          <p:cNvPr id="79" name="Rectangle 78"/>
          <p:cNvSpPr/>
          <p:nvPr/>
        </p:nvSpPr>
        <p:spPr>
          <a:xfrm>
            <a:off x="9738360" y="2368296"/>
            <a:ext cx="1993392" cy="150876"/>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519172"/>
            <a:ext cx="1993392" cy="100584"/>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19756"/>
            <a:ext cx="1993392" cy="8686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706624"/>
            <a:ext cx="1993392" cy="8686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93492"/>
            <a:ext cx="1993392" cy="64007"/>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7" name="TextBox 86"/>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88" name="Rectangle 87"/>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50</a:t>
            </a:r>
          </a:p>
        </p:txBody>
      </p:sp>
      <p:sp>
        <p:nvSpPr>
          <p:cNvPr id="91" name="TextBox 90"/>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2" name="Rectangle 91"/>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601200" y="3803904"/>
            <a:ext cx="1353312"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37</a:t>
            </a:r>
          </a:p>
        </p:txBody>
      </p:sp>
      <p:sp>
        <p:nvSpPr>
          <p:cNvPr id="95" name="TextBox 94"/>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96" name="Rectangle 95"/>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601200" y="3968496"/>
            <a:ext cx="128016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35</a:t>
            </a:r>
          </a:p>
        </p:txBody>
      </p:sp>
      <p:sp>
        <p:nvSpPr>
          <p:cNvPr id="99" name="TextBox 98"/>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100" name="Rectangle 99"/>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601200" y="4133088"/>
            <a:ext cx="1207008"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33</a:t>
            </a:r>
          </a:p>
        </p:txBody>
      </p:sp>
      <p:sp>
        <p:nvSpPr>
          <p:cNvPr id="103" name="TextBox 102"/>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CoinPost</a:t>
            </a:r>
          </a:p>
        </p:txBody>
      </p:sp>
      <p:sp>
        <p:nvSpPr>
          <p:cNvPr id="104" name="Rectangle 103"/>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601200" y="4297680"/>
            <a:ext cx="1170432"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32</a:t>
            </a:r>
          </a:p>
        </p:txBody>
      </p:sp>
      <p:sp>
        <p:nvSpPr>
          <p:cNvPr id="107" name="TextBox 106"/>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8" name="Rectangle 107"/>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601200" y="4462272"/>
            <a:ext cx="950976"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26</a:t>
            </a:r>
          </a:p>
        </p:txBody>
      </p:sp>
      <p:sp>
        <p:nvSpPr>
          <p:cNvPr id="111" name="Rectangle 110"/>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4" name="Rounded Rectangle 113"/>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235</a:t>
            </a:r>
          </a:p>
        </p:txBody>
      </p:sp>
      <p:sp>
        <p:nvSpPr>
          <p:cNvPr id="116" name="Rounded Rectangle 115"/>
          <p:cNvSpPr/>
          <p:nvPr/>
        </p:nvSpPr>
        <p:spPr>
          <a:xfrm>
            <a:off x="8065008"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110728" y="5175504"/>
            <a:ext cx="55778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EU 40</a:t>
            </a:r>
          </a:p>
        </p:txBody>
      </p:sp>
      <p:sp>
        <p:nvSpPr>
          <p:cNvPr id="118" name="Rounded Rectangle 117"/>
          <p:cNvSpPr/>
          <p:nvPr/>
        </p:nvSpPr>
        <p:spPr>
          <a:xfrm>
            <a:off x="8769096"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814816"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38</a:t>
            </a:r>
          </a:p>
        </p:txBody>
      </p:sp>
      <p:sp>
        <p:nvSpPr>
          <p:cNvPr id="120" name="Rounded Rectangle 119"/>
          <p:cNvSpPr/>
          <p:nvPr/>
        </p:nvSpPr>
        <p:spPr>
          <a:xfrm>
            <a:off x="9564624"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610344"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29</a:t>
            </a:r>
          </a:p>
        </p:txBody>
      </p:sp>
      <p:sp>
        <p:nvSpPr>
          <p:cNvPr id="122" name="Rounded Rectangle 121"/>
          <p:cNvSpPr/>
          <p:nvPr/>
        </p:nvSpPr>
        <p:spPr>
          <a:xfrm>
            <a:off x="10360152"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0405872"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28</a:t>
            </a:r>
          </a:p>
        </p:txBody>
      </p:sp>
      <p:sp>
        <p:nvSpPr>
          <p:cNvPr id="124" name="Rounded Rectangle 123"/>
          <p:cNvSpPr/>
          <p:nvPr/>
        </p:nvSpPr>
        <p:spPr>
          <a:xfrm>
            <a:off x="7360920" y="543153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406640" y="544982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21</a:t>
            </a:r>
          </a:p>
        </p:txBody>
      </p:sp>
      <p:sp>
        <p:nvSpPr>
          <p:cNvPr id="126" name="Rounded Rectangle 125"/>
          <p:cNvSpPr/>
          <p:nvPr/>
        </p:nvSpPr>
        <p:spPr>
          <a:xfrm>
            <a:off x="8522208" y="543153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567928" y="544982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20</a:t>
            </a:r>
          </a:p>
        </p:txBody>
      </p:sp>
      <p:sp>
        <p:nvSpPr>
          <p:cNvPr id="128" name="Rounded Rectangle 127"/>
          <p:cNvSpPr/>
          <p:nvPr/>
        </p:nvSpPr>
        <p:spPr>
          <a:xfrm>
            <a:off x="9500616" y="543153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546336" y="544982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18</a:t>
            </a:r>
          </a:p>
        </p:txBody>
      </p:sp>
      <p:sp>
        <p:nvSpPr>
          <p:cNvPr id="130" name="Rounded Rectangle 129"/>
          <p:cNvSpPr/>
          <p:nvPr/>
        </p:nvSpPr>
        <p:spPr>
          <a:xfrm>
            <a:off x="10936223" y="543153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0981943" y="544982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18</a:t>
            </a:r>
          </a:p>
        </p:txBody>
      </p:sp>
      <p:sp>
        <p:nvSpPr>
          <p:cNvPr id="132" name="Rounded Rectangle 131"/>
          <p:cNvSpPr/>
          <p:nvPr/>
        </p:nvSpPr>
        <p:spPr>
          <a:xfrm>
            <a:off x="7360920"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406640"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17</a:t>
            </a:r>
          </a:p>
        </p:txBody>
      </p:sp>
      <p:sp>
        <p:nvSpPr>
          <p:cNvPr id="134" name="Rounded Rectangle 133"/>
          <p:cNvSpPr/>
          <p:nvPr/>
        </p:nvSpPr>
        <p:spPr>
          <a:xfrm>
            <a:off x="8247888"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293608"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14</a:t>
            </a:r>
          </a:p>
        </p:txBody>
      </p:sp>
      <p:sp>
        <p:nvSpPr>
          <p:cNvPr id="136" name="Rounded Rectangle 135"/>
          <p:cNvSpPr/>
          <p:nvPr/>
        </p:nvSpPr>
        <p:spPr>
          <a:xfrm>
            <a:off x="9226296" y="570585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272016" y="572414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14</a:t>
            </a:r>
          </a:p>
        </p:txBody>
      </p:sp>
      <p:sp>
        <p:nvSpPr>
          <p:cNvPr id="138" name="Rounded Rectangle 137"/>
          <p:cNvSpPr/>
          <p:nvPr/>
        </p:nvSpPr>
        <p:spPr>
          <a:xfrm>
            <a:off x="10479024" y="570585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0524744" y="572414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14</a:t>
            </a:r>
          </a:p>
        </p:txBody>
      </p:sp>
      <p:sp>
        <p:nvSpPr>
          <p:cNvPr id="140" name="Rounded Rectangle 139"/>
          <p:cNvSpPr/>
          <p:nvPr/>
        </p:nvSpPr>
        <p:spPr>
          <a:xfrm>
            <a:off x="7360920" y="598017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406640" y="599846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OpenAI 14</a:t>
            </a:r>
          </a:p>
        </p:txBody>
      </p:sp>
      <p:sp>
        <p:nvSpPr>
          <p:cNvPr id="142" name="Rounded Rectangle 141"/>
          <p:cNvSpPr/>
          <p:nvPr/>
        </p:nvSpPr>
        <p:spPr>
          <a:xfrm>
            <a:off x="8430768"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476488"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上場 13</a:t>
            </a:r>
          </a:p>
        </p:txBody>
      </p:sp>
      <p:sp>
        <p:nvSpPr>
          <p:cNvPr id="144" name="Rounded Rectangle 143"/>
          <p:cNvSpPr/>
          <p:nvPr/>
        </p:nvSpPr>
        <p:spPr>
          <a:xfrm>
            <a:off x="9134856" y="5980176"/>
            <a:ext cx="14721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80576" y="5998464"/>
            <a:ext cx="13807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Hyperliquid 12</a:t>
            </a:r>
          </a:p>
        </p:txBody>
      </p:sp>
      <p:sp>
        <p:nvSpPr>
          <p:cNvPr id="146" name="Rounded Rectangle 145"/>
          <p:cNvSpPr/>
          <p:nvPr/>
        </p:nvSpPr>
        <p:spPr>
          <a:xfrm>
            <a:off x="10661904" y="598017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0707624" y="599846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トークン化 12</a:t>
            </a:r>
          </a:p>
        </p:txBody>
      </p:sp>
      <p:sp>
        <p:nvSpPr>
          <p:cNvPr id="148" name="Rounded Rectangle 147"/>
          <p:cNvSpPr/>
          <p:nvPr/>
        </p:nvSpPr>
        <p:spPr>
          <a:xfrm>
            <a:off x="7360920" y="625449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7406640" y="627278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法案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2026-05-15</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(金)</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313</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72</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241</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11</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米上院、暗号資産に友好的なケビン・ウォーシュ氏のFRB議長就任を承認</a:t>
            </a:r>
          </a:p>
          <a:p>
            <a:pPr algn="l"/>
            <a:r>
              <a:rPr sz="850" b="1">
                <a:solidFill>
                  <a:srgbClr val="FF3D8A"/>
                </a:solidFill>
                <a:latin typeface="Yu Gothic UI"/>
              </a:rPr>
              <a:t>CoinDesk Japan  ·  16:30  ·  規制・政策</a:t>
            </a:r>
          </a:p>
          <a:p>
            <a:pPr algn="l"/>
            <a:r>
              <a:rPr sz="900" b="0">
                <a:solidFill>
                  <a:srgbClr val="9AA8C4"/>
                </a:solidFill>
                <a:latin typeface="Yu Gothic UI"/>
              </a:rPr>
              <a:t>アメリカ議会上院は5月13日、Donald Trump（ドナルド・トランプ）大統領が指名したKevin Warsh（ケビン・ウォーシュ）氏を連邦準備制度理事会（ ...</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Strategyの優先株STRC、1日の取引高が過去最高の15億ドルに</a:t>
            </a:r>
          </a:p>
          <a:p>
            <a:pPr algn="l"/>
            <a:r>
              <a:rPr sz="850" b="1">
                <a:solidFill>
                  <a:srgbClr val="FF3D8A"/>
                </a:solidFill>
                <a:latin typeface="Yu Gothic UI"/>
              </a:rPr>
              <a:t>CoinDesk Japan  ·  18:55  ·  ETF・機関</a:t>
            </a:r>
          </a:p>
          <a:p>
            <a:pPr algn="l"/>
            <a:r>
              <a:rPr sz="900" b="0">
                <a:solidFill>
                  <a:srgbClr val="9AA8C4"/>
                </a:solidFill>
                <a:latin typeface="Yu Gothic UI"/>
              </a:rPr>
              <a:t>ビットコイン財務企業Strategy（ストラテジー）の永久優先株「STRC」の取引高が、5月14日に15億3000万ドル（約2448億円、1ドル=160円換算） ...</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Jane Street、ビットコインETFとStrategy株を8.4億ドル削減──ETH・AI関連へ資金シフト</a:t>
            </a:r>
          </a:p>
          <a:p>
            <a:pPr algn="l"/>
            <a:r>
              <a:rPr sz="850" b="1">
                <a:solidFill>
                  <a:srgbClr val="FFC107"/>
                </a:solidFill>
                <a:latin typeface="Yu Gothic UI"/>
              </a:rPr>
              <a:t>CoinDesk Japan  ·  14:28  ·  ETF・機関</a:t>
            </a:r>
          </a:p>
          <a:p>
            <a:pPr algn="l"/>
            <a:r>
              <a:rPr sz="900" b="0">
                <a:solidFill>
                  <a:srgbClr val="9AA8C4"/>
                </a:solidFill>
                <a:latin typeface="Yu Gothic UI"/>
              </a:rPr>
              <a:t>・Jane Streetは2026年第1四半期、ビットコインETFとStrategy株へのエクスポージャーを8億4000万ドル超削減する一方、イーサリアムETF ...</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Polymarketの月間取引高、2025年8月以来初の減少──予測市場の競争激化</a:t>
            </a:r>
          </a:p>
          <a:p>
            <a:pPr algn="l"/>
            <a:r>
              <a:rPr sz="850" b="1">
                <a:solidFill>
                  <a:srgbClr val="FFC107"/>
                </a:solidFill>
                <a:latin typeface="Yu Gothic UI"/>
              </a:rPr>
              <a:t>CoinDesk Japan  ·  14:25  ·  価格・市場</a:t>
            </a:r>
          </a:p>
          <a:p>
            <a:pPr algn="l"/>
            <a:r>
              <a:rPr sz="900" b="0">
                <a:solidFill>
                  <a:srgbClr val="9AA8C4"/>
                </a:solidFill>
                <a:latin typeface="Yu Gothic UI"/>
              </a:rPr>
              <a:t>Dune Analyticsのデータによると、予測市場プラットフォームPolymarket（ポリマーケット）の4月の月間取引高は、3月の112億ドル（約1兆73 ...</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Signal hints it could leave Canada over lawful access bill</a:t>
            </a:r>
          </a:p>
          <a:p>
            <a:pPr algn="l"/>
            <a:r>
              <a:rPr sz="850" b="1">
                <a:solidFill>
                  <a:srgbClr val="4AE3A3"/>
                </a:solidFill>
                <a:latin typeface="Yu Gothic UI"/>
              </a:rPr>
              <a:t>Cointelegraph  ·  16:18  ·  ETF・機関</a:t>
            </a:r>
          </a:p>
          <a:p>
            <a:pPr algn="l"/>
            <a:r>
              <a:rPr sz="900" b="0">
                <a:solidFill>
                  <a:srgbClr val="9AA8C4"/>
                </a:solidFill>
                <a:latin typeface="Yu Gothic UI"/>
              </a:rPr>
              <a:t>Signal's vice president of strategy said the firm “would rather pull out of the country” than comply with Bill C-22, which could…</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85</a:t>
            </a:r>
          </a:p>
        </p:txBody>
      </p:sp>
      <p:sp>
        <p:nvSpPr>
          <p:cNvPr id="54" name="Rectangle 53"/>
          <p:cNvSpPr/>
          <p:nvPr/>
        </p:nvSpPr>
        <p:spPr>
          <a:xfrm>
            <a:off x="7315200" y="1636776"/>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58</a:t>
            </a:r>
          </a:p>
        </p:txBody>
      </p:sp>
      <p:sp>
        <p:nvSpPr>
          <p:cNvPr id="57" name="Rectangle 56"/>
          <p:cNvSpPr/>
          <p:nvPr/>
        </p:nvSpPr>
        <p:spPr>
          <a:xfrm>
            <a:off x="7315200" y="1847088"/>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46</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40</a:t>
            </a:r>
          </a:p>
        </p:txBody>
      </p:sp>
      <p:sp>
        <p:nvSpPr>
          <p:cNvPr id="63" name="Rectangle 62"/>
          <p:cNvSpPr/>
          <p:nvPr/>
        </p:nvSpPr>
        <p:spPr>
          <a:xfrm>
            <a:off x="7315200" y="2267712"/>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23</a:t>
            </a:r>
          </a:p>
        </p:txBody>
      </p:sp>
      <p:sp>
        <p:nvSpPr>
          <p:cNvPr id="66" name="Rectangle 65"/>
          <p:cNvSpPr/>
          <p:nvPr/>
        </p:nvSpPr>
        <p:spPr>
          <a:xfrm>
            <a:off x="7315200" y="2478024"/>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21</a:t>
            </a:r>
          </a:p>
        </p:txBody>
      </p:sp>
      <p:sp>
        <p:nvSpPr>
          <p:cNvPr id="69" name="Rectangle 68"/>
          <p:cNvSpPr/>
          <p:nvPr/>
        </p:nvSpPr>
        <p:spPr>
          <a:xfrm>
            <a:off x="7315200" y="2688336"/>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19</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384895"/>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48319"/>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27%</a:t>
            </a:r>
          </a:p>
        </p:txBody>
      </p:sp>
      <p:sp>
        <p:nvSpPr>
          <p:cNvPr id="75" name="Rectangle 74"/>
          <p:cNvSpPr/>
          <p:nvPr/>
        </p:nvSpPr>
        <p:spPr>
          <a:xfrm>
            <a:off x="9738360" y="1847935"/>
            <a:ext cx="1993392" cy="262634"/>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66223"/>
            <a:ext cx="1901952" cy="226058"/>
          </a:xfrm>
          <a:prstGeom prst="rect">
            <a:avLst/>
          </a:prstGeom>
          <a:noFill/>
        </p:spPr>
        <p:txBody>
          <a:bodyPr wrap="square" lIns="36000" rIns="36000" tIns="18000" bIns="18000" anchor="t">
            <a:spAutoFit/>
          </a:bodyPr>
          <a:lstStyle/>
          <a:p>
            <a:pPr algn="l"/>
            <a:r>
              <a:rPr sz="800" b="1">
                <a:solidFill>
                  <a:srgbClr val="0B142A"/>
                </a:solidFill>
                <a:latin typeface="Yu Gothic UI"/>
              </a:rPr>
              <a:t>AI・技術 19%</a:t>
            </a:r>
          </a:p>
        </p:txBody>
      </p:sp>
      <p:sp>
        <p:nvSpPr>
          <p:cNvPr id="77" name="Rectangle 76"/>
          <p:cNvSpPr/>
          <p:nvPr/>
        </p:nvSpPr>
        <p:spPr>
          <a:xfrm>
            <a:off x="9738360" y="2110569"/>
            <a:ext cx="1993392" cy="208296"/>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28857"/>
            <a:ext cx="1901952" cy="171720"/>
          </a:xfrm>
          <a:prstGeom prst="rect">
            <a:avLst/>
          </a:prstGeom>
          <a:noFill/>
        </p:spPr>
        <p:txBody>
          <a:bodyPr wrap="square" lIns="36000" rIns="36000" tIns="18000" bIns="18000" anchor="t">
            <a:spAutoFit/>
          </a:bodyPr>
          <a:lstStyle/>
          <a:p>
            <a:pPr algn="l"/>
            <a:r>
              <a:rPr sz="800" b="1">
                <a:solidFill>
                  <a:srgbClr val="0B142A"/>
                </a:solidFill>
                <a:latin typeface="Yu Gothic UI"/>
              </a:rPr>
              <a:t>その他 15%</a:t>
            </a:r>
          </a:p>
        </p:txBody>
      </p:sp>
      <p:sp>
        <p:nvSpPr>
          <p:cNvPr id="79" name="Rectangle 78"/>
          <p:cNvSpPr/>
          <p:nvPr/>
        </p:nvSpPr>
        <p:spPr>
          <a:xfrm>
            <a:off x="9738360" y="2318865"/>
            <a:ext cx="1993392" cy="181127"/>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784080" y="2337153"/>
            <a:ext cx="1901952" cy="144551"/>
          </a:xfrm>
          <a:prstGeom prst="rect">
            <a:avLst/>
          </a:prstGeom>
          <a:noFill/>
        </p:spPr>
        <p:txBody>
          <a:bodyPr wrap="square" lIns="36000" rIns="36000" tIns="18000" bIns="18000" anchor="t">
            <a:spAutoFit/>
          </a:bodyPr>
          <a:lstStyle/>
          <a:p>
            <a:pPr algn="l"/>
            <a:r>
              <a:rPr sz="800" b="1">
                <a:solidFill>
                  <a:srgbClr val="0B142A"/>
                </a:solidFill>
                <a:latin typeface="Yu Gothic UI"/>
              </a:rPr>
              <a:t>ETF・機関 13%</a:t>
            </a:r>
          </a:p>
        </p:txBody>
      </p:sp>
      <p:sp>
        <p:nvSpPr>
          <p:cNvPr id="81" name="Rectangle 80"/>
          <p:cNvSpPr/>
          <p:nvPr/>
        </p:nvSpPr>
        <p:spPr>
          <a:xfrm>
            <a:off x="9738360" y="2499992"/>
            <a:ext cx="1993392" cy="10414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604141"/>
            <a:ext cx="1993392" cy="95091"/>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699232"/>
            <a:ext cx="1993392" cy="86035"/>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738360" y="2785268"/>
            <a:ext cx="1993392" cy="67922"/>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8" name="TextBox 87"/>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89" name="Rectangle 88"/>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55</a:t>
            </a:r>
          </a:p>
        </p:txBody>
      </p:sp>
      <p:sp>
        <p:nvSpPr>
          <p:cNvPr id="92" name="TextBox 91"/>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3" name="Rectangle 92"/>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601200" y="3803904"/>
            <a:ext cx="1296785"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39</a:t>
            </a:r>
          </a:p>
        </p:txBody>
      </p:sp>
      <p:sp>
        <p:nvSpPr>
          <p:cNvPr id="96" name="TextBox 95"/>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97" name="Rectangle 96"/>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601200" y="3968496"/>
            <a:ext cx="109728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33</a:t>
            </a:r>
          </a:p>
        </p:txBody>
      </p:sp>
      <p:sp>
        <p:nvSpPr>
          <p:cNvPr id="100" name="TextBox 99"/>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CoinPost</a:t>
            </a:r>
          </a:p>
        </p:txBody>
      </p:sp>
      <p:sp>
        <p:nvSpPr>
          <p:cNvPr id="101" name="Rectangle 100"/>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601200" y="4133088"/>
            <a:ext cx="1064029"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32</a:t>
            </a:r>
          </a:p>
        </p:txBody>
      </p:sp>
      <p:sp>
        <p:nvSpPr>
          <p:cNvPr id="104" name="TextBox 103"/>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5" name="Rectangle 104"/>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601200" y="4297680"/>
            <a:ext cx="1030778"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31</a:t>
            </a:r>
          </a:p>
        </p:txBody>
      </p:sp>
      <p:sp>
        <p:nvSpPr>
          <p:cNvPr id="108" name="TextBox 107"/>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109" name="Rectangle 108"/>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601200" y="4462272"/>
            <a:ext cx="964276"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29</a:t>
            </a:r>
          </a:p>
        </p:txBody>
      </p:sp>
      <p:sp>
        <p:nvSpPr>
          <p:cNvPr id="112" name="Rectangle 111"/>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5" name="Rounded Rectangle 114"/>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233</a:t>
            </a:r>
          </a:p>
        </p:txBody>
      </p:sp>
      <p:sp>
        <p:nvSpPr>
          <p:cNvPr id="117" name="Rounded Rectangle 116"/>
          <p:cNvSpPr/>
          <p:nvPr/>
        </p:nvSpPr>
        <p:spPr>
          <a:xfrm>
            <a:off x="8065008"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110728"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31</a:t>
            </a:r>
          </a:p>
        </p:txBody>
      </p:sp>
      <p:sp>
        <p:nvSpPr>
          <p:cNvPr id="119" name="Rounded Rectangle 118"/>
          <p:cNvSpPr/>
          <p:nvPr/>
        </p:nvSpPr>
        <p:spPr>
          <a:xfrm>
            <a:off x="8860536" y="515721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906256" y="517550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28</a:t>
            </a:r>
          </a:p>
        </p:txBody>
      </p:sp>
      <p:sp>
        <p:nvSpPr>
          <p:cNvPr id="121" name="Rounded Rectangle 120"/>
          <p:cNvSpPr/>
          <p:nvPr/>
        </p:nvSpPr>
        <p:spPr>
          <a:xfrm>
            <a:off x="10021824"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0067544"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28</a:t>
            </a:r>
          </a:p>
        </p:txBody>
      </p:sp>
      <p:sp>
        <p:nvSpPr>
          <p:cNvPr id="123" name="Rounded Rectangle 122"/>
          <p:cNvSpPr/>
          <p:nvPr/>
        </p:nvSpPr>
        <p:spPr>
          <a:xfrm>
            <a:off x="10817352"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863072" y="517550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28</a:t>
            </a:r>
          </a:p>
        </p:txBody>
      </p:sp>
      <p:sp>
        <p:nvSpPr>
          <p:cNvPr id="125" name="Rounded Rectangle 124"/>
          <p:cNvSpPr/>
          <p:nvPr/>
        </p:nvSpPr>
        <p:spPr>
          <a:xfrm>
            <a:off x="7360920"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406640"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27</a:t>
            </a:r>
          </a:p>
        </p:txBody>
      </p:sp>
      <p:sp>
        <p:nvSpPr>
          <p:cNvPr id="127" name="Rounded Rectangle 126"/>
          <p:cNvSpPr/>
          <p:nvPr/>
        </p:nvSpPr>
        <p:spPr>
          <a:xfrm>
            <a:off x="8065008"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110728"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23</a:t>
            </a:r>
          </a:p>
        </p:txBody>
      </p:sp>
      <p:sp>
        <p:nvSpPr>
          <p:cNvPr id="129" name="Rounded Rectangle 128"/>
          <p:cNvSpPr/>
          <p:nvPr/>
        </p:nvSpPr>
        <p:spPr>
          <a:xfrm>
            <a:off x="8860536" y="543153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8906256" y="544982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22</a:t>
            </a:r>
          </a:p>
        </p:txBody>
      </p:sp>
      <p:sp>
        <p:nvSpPr>
          <p:cNvPr id="131" name="Rounded Rectangle 130"/>
          <p:cNvSpPr/>
          <p:nvPr/>
        </p:nvSpPr>
        <p:spPr>
          <a:xfrm>
            <a:off x="9838944" y="543153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884664" y="544982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20</a:t>
            </a:r>
          </a:p>
        </p:txBody>
      </p:sp>
      <p:sp>
        <p:nvSpPr>
          <p:cNvPr id="133" name="Rounded Rectangle 132"/>
          <p:cNvSpPr/>
          <p:nvPr/>
        </p:nvSpPr>
        <p:spPr>
          <a:xfrm>
            <a:off x="7360920"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406640"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20</a:t>
            </a:r>
          </a:p>
        </p:txBody>
      </p:sp>
      <p:sp>
        <p:nvSpPr>
          <p:cNvPr id="135" name="Rounded Rectangle 134"/>
          <p:cNvSpPr/>
          <p:nvPr/>
        </p:nvSpPr>
        <p:spPr>
          <a:xfrm>
            <a:off x="8247888"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293608"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17</a:t>
            </a:r>
          </a:p>
        </p:txBody>
      </p:sp>
      <p:sp>
        <p:nvSpPr>
          <p:cNvPr id="137" name="Rounded Rectangle 136"/>
          <p:cNvSpPr/>
          <p:nvPr/>
        </p:nvSpPr>
        <p:spPr>
          <a:xfrm>
            <a:off x="9226296" y="570585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272016" y="572414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16</a:t>
            </a:r>
          </a:p>
        </p:txBody>
      </p:sp>
      <p:sp>
        <p:nvSpPr>
          <p:cNvPr id="139" name="Rounded Rectangle 138"/>
          <p:cNvSpPr/>
          <p:nvPr/>
        </p:nvSpPr>
        <p:spPr>
          <a:xfrm>
            <a:off x="10661903"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0707623"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16</a:t>
            </a:r>
          </a:p>
        </p:txBody>
      </p:sp>
      <p:sp>
        <p:nvSpPr>
          <p:cNvPr id="141" name="Rounded Rectangle 140"/>
          <p:cNvSpPr/>
          <p:nvPr/>
        </p:nvSpPr>
        <p:spPr>
          <a:xfrm>
            <a:off x="7360920" y="5980176"/>
            <a:ext cx="10149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406640" y="5998464"/>
            <a:ext cx="9235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Claude 15</a:t>
            </a:r>
          </a:p>
        </p:txBody>
      </p:sp>
      <p:sp>
        <p:nvSpPr>
          <p:cNvPr id="143" name="Rounded Rectangle 142"/>
          <p:cNvSpPr/>
          <p:nvPr/>
        </p:nvSpPr>
        <p:spPr>
          <a:xfrm>
            <a:off x="8430768"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8476488"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上場 14</a:t>
            </a:r>
          </a:p>
        </p:txBody>
      </p:sp>
      <p:sp>
        <p:nvSpPr>
          <p:cNvPr id="145" name="Rounded Rectangle 144"/>
          <p:cNvSpPr/>
          <p:nvPr/>
        </p:nvSpPr>
        <p:spPr>
          <a:xfrm>
            <a:off x="9134856" y="598017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180576" y="599846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IPO 13</a:t>
            </a:r>
          </a:p>
        </p:txBody>
      </p:sp>
      <p:sp>
        <p:nvSpPr>
          <p:cNvPr id="147" name="Rounded Rectangle 146"/>
          <p:cNvSpPr/>
          <p:nvPr/>
        </p:nvSpPr>
        <p:spPr>
          <a:xfrm>
            <a:off x="9930384"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9976104"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USDC 13</a:t>
            </a:r>
          </a:p>
        </p:txBody>
      </p:sp>
      <p:sp>
        <p:nvSpPr>
          <p:cNvPr id="149" name="Rounded Rectangle 148"/>
          <p:cNvSpPr/>
          <p:nvPr/>
        </p:nvSpPr>
        <p:spPr>
          <a:xfrm>
            <a:off x="10817352"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0863072"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法案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2026-05-16</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(土)</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289</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56</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233</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8</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Strategyの優先株STRC、1日の取引高が過去最高の15億ドルに</a:t>
            </a:r>
          </a:p>
          <a:p>
            <a:pPr algn="l"/>
            <a:r>
              <a:rPr sz="850" b="1">
                <a:solidFill>
                  <a:srgbClr val="FF3D8A"/>
                </a:solidFill>
                <a:latin typeface="Yu Gothic UI"/>
              </a:rPr>
              <a:t>CoinDesk Japan  ·  18:55  ·  ETF・機関</a:t>
            </a:r>
          </a:p>
          <a:p>
            <a:pPr algn="l"/>
            <a:r>
              <a:rPr sz="900" b="0">
                <a:solidFill>
                  <a:srgbClr val="9AA8C4"/>
                </a:solidFill>
                <a:latin typeface="Yu Gothic UI"/>
              </a:rPr>
              <a:t>ビットコイン財務企業Strategy（ストラテジー）の永久優先株「STRC」の取引高が、5月14日に15億3000万ドル（約2448億円、1ドル=160円換算） ...</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Strategy、約2300億円相当の転換社債を割引価格で買い戻しへ──資金確保にビットコイン売却も検討</a:t>
            </a:r>
          </a:p>
          <a:p>
            <a:pPr algn="l"/>
            <a:r>
              <a:rPr sz="850" b="1">
                <a:solidFill>
                  <a:srgbClr val="FF3D8A"/>
                </a:solidFill>
                <a:latin typeface="Yu Gothic UI"/>
              </a:rPr>
              <a:t>CoinDesk Japan  ·  09:00  ·  ETF・機関</a:t>
            </a:r>
          </a:p>
          <a:p>
            <a:pPr algn="l"/>
            <a:r>
              <a:rPr sz="900" b="0">
                <a:solidFill>
                  <a:srgbClr val="9AA8C4"/>
                </a:solidFill>
                <a:latin typeface="Yu Gothic UI"/>
              </a:rPr>
              <a:t>ビットコイン（BTC）を大量保有するStrategy（ストラテジー）は、15億ドル（約2300億円、1ドル＝155円換算）相当の転換社債を割引価格で買い戻す計画 ...</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House committee leaders urge Trump to nominate CFTC members, citing CLARI…</a:t>
            </a:r>
          </a:p>
          <a:p>
            <a:pPr algn="l"/>
            <a:r>
              <a:rPr sz="850" b="1">
                <a:solidFill>
                  <a:srgbClr val="FFC107"/>
                </a:solidFill>
                <a:latin typeface="Yu Gothic UI"/>
              </a:rPr>
              <a:t>Cointelegraph  ·  08:10  ·  規制・政策</a:t>
            </a:r>
          </a:p>
          <a:p>
            <a:pPr algn="l"/>
            <a:r>
              <a:rPr sz="900" b="0">
                <a:solidFill>
                  <a:srgbClr val="9AA8C4"/>
                </a:solidFill>
                <a:latin typeface="Yu Gothic UI"/>
              </a:rPr>
              <a:t>The US Commodity Futures Trading Commission is currently headed by Chair Michael Selig, with no public statement from Donald Tru…</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【5/15話題】米上院銀行委員会が「CLARITY法」可決、イングランド銀行がステーブルコイン規制案を再考へなど（音声ニュース）</a:t>
            </a:r>
          </a:p>
          <a:p>
            <a:pPr algn="l"/>
            <a:r>
              <a:rPr sz="850" b="1">
                <a:solidFill>
                  <a:srgbClr val="FFC107"/>
                </a:solidFill>
                <a:latin typeface="Yu Gothic UI"/>
              </a:rPr>
              <a:t>あたらしい経済  ·  19:32  ·  規制・政策</a:t>
            </a:r>
          </a:p>
          <a:p>
            <a:pPr algn="l"/>
            <a:r>
              <a:rPr sz="900" b="0">
                <a:solidFill>
                  <a:srgbClr val="9AA8C4"/>
                </a:solidFill>
                <a:latin typeface="Yu Gothic UI"/>
              </a:rPr>
              <a:t>Web3ニュースをポッドキャストで！ ブロックチェーン・仮想通貨（暗号資産）・フィンテックについてのニュース解説を「あたらしい経済」編集部が、平日毎日ポッドキャストでお届けします。Apple Podcast、Spotif [&amp;#8230;]</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CLARITY法案の進捗と暗号資産市場の展望レポート</a:t>
            </a:r>
          </a:p>
          <a:p>
            <a:pPr algn="l"/>
            <a:r>
              <a:rPr sz="850" b="1">
                <a:solidFill>
                  <a:srgbClr val="4AE3A3"/>
                </a:solidFill>
                <a:latin typeface="Yu Gothic UI"/>
              </a:rPr>
              <a:t>あたらしい経済  ·  15:03  ·  規制・政策</a:t>
            </a:r>
          </a:p>
          <a:p>
            <a:pPr algn="l"/>
            <a:r>
              <a:rPr sz="900" b="0">
                <a:solidFill>
                  <a:srgbClr val="9AA8C4"/>
                </a:solidFill>
                <a:latin typeface="Yu Gothic UI"/>
              </a:rPr>
              <a:t>米上院銀行委員会が可決した「CLARITY法案」の進捗と暗号資産市場の展望レポート 米上院銀行委員会が、暗号資産業界を連邦レベルで包括的に規制する暗号資産市場構造法案「クラリティ法案（CLARITY Act）」を米国時間 [&amp;#8230;]</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89</a:t>
            </a:r>
          </a:p>
        </p:txBody>
      </p:sp>
      <p:sp>
        <p:nvSpPr>
          <p:cNvPr id="54" name="Rectangle 53"/>
          <p:cNvSpPr/>
          <p:nvPr/>
        </p:nvSpPr>
        <p:spPr>
          <a:xfrm>
            <a:off x="7315200" y="1636776"/>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47</a:t>
            </a:r>
          </a:p>
        </p:txBody>
      </p:sp>
      <p:sp>
        <p:nvSpPr>
          <p:cNvPr id="57" name="Rectangle 56"/>
          <p:cNvSpPr/>
          <p:nvPr/>
        </p:nvSpPr>
        <p:spPr>
          <a:xfrm>
            <a:off x="7315200" y="1847088"/>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43</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28</a:t>
            </a:r>
          </a:p>
        </p:txBody>
      </p:sp>
      <p:sp>
        <p:nvSpPr>
          <p:cNvPr id="63" name="Rectangle 62"/>
          <p:cNvSpPr/>
          <p:nvPr/>
        </p:nvSpPr>
        <p:spPr>
          <a:xfrm>
            <a:off x="7315200" y="2267712"/>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25</a:t>
            </a:r>
          </a:p>
        </p:txBody>
      </p:sp>
      <p:sp>
        <p:nvSpPr>
          <p:cNvPr id="66" name="Rectangle 65"/>
          <p:cNvSpPr/>
          <p:nvPr/>
        </p:nvSpPr>
        <p:spPr>
          <a:xfrm>
            <a:off x="7315200" y="2478024"/>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18</a:t>
            </a:r>
          </a:p>
        </p:txBody>
      </p:sp>
      <p:sp>
        <p:nvSpPr>
          <p:cNvPr id="69" name="Rectangle 68"/>
          <p:cNvSpPr/>
          <p:nvPr/>
        </p:nvSpPr>
        <p:spPr>
          <a:xfrm>
            <a:off x="7315200" y="2688336"/>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14</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436475"/>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99899"/>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31%</a:t>
            </a:r>
          </a:p>
        </p:txBody>
      </p:sp>
      <p:sp>
        <p:nvSpPr>
          <p:cNvPr id="75" name="Rectangle 74"/>
          <p:cNvSpPr/>
          <p:nvPr/>
        </p:nvSpPr>
        <p:spPr>
          <a:xfrm>
            <a:off x="9738360" y="1899515"/>
            <a:ext cx="1993392" cy="23049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917803"/>
            <a:ext cx="1901952" cy="193922"/>
          </a:xfrm>
          <a:prstGeom prst="rect">
            <a:avLst/>
          </a:prstGeom>
          <a:noFill/>
        </p:spPr>
        <p:txBody>
          <a:bodyPr wrap="square" lIns="36000" rIns="36000" tIns="18000" bIns="18000" anchor="t">
            <a:spAutoFit/>
          </a:bodyPr>
          <a:lstStyle/>
          <a:p>
            <a:pPr algn="l"/>
            <a:r>
              <a:rPr sz="800" b="1">
                <a:solidFill>
                  <a:srgbClr val="0B142A"/>
                </a:solidFill>
                <a:latin typeface="Yu Gothic UI"/>
              </a:rPr>
              <a:t>AI・技術 16%</a:t>
            </a:r>
          </a:p>
        </p:txBody>
      </p:sp>
      <p:sp>
        <p:nvSpPr>
          <p:cNvPr id="77" name="Rectangle 76"/>
          <p:cNvSpPr/>
          <p:nvPr/>
        </p:nvSpPr>
        <p:spPr>
          <a:xfrm>
            <a:off x="9738360" y="2130014"/>
            <a:ext cx="1993392" cy="210881"/>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48302"/>
            <a:ext cx="1901952" cy="174305"/>
          </a:xfrm>
          <a:prstGeom prst="rect">
            <a:avLst/>
          </a:prstGeom>
          <a:noFill/>
        </p:spPr>
        <p:txBody>
          <a:bodyPr wrap="square" lIns="36000" rIns="36000" tIns="18000" bIns="18000" anchor="t">
            <a:spAutoFit/>
          </a:bodyPr>
          <a:lstStyle/>
          <a:p>
            <a:pPr algn="l"/>
            <a:r>
              <a:rPr sz="800" b="1">
                <a:solidFill>
                  <a:srgbClr val="0B142A"/>
                </a:solidFill>
                <a:latin typeface="Yu Gothic UI"/>
              </a:rPr>
              <a:t>その他 15%</a:t>
            </a:r>
          </a:p>
        </p:txBody>
      </p:sp>
      <p:sp>
        <p:nvSpPr>
          <p:cNvPr id="79" name="Rectangle 78"/>
          <p:cNvSpPr/>
          <p:nvPr/>
        </p:nvSpPr>
        <p:spPr>
          <a:xfrm>
            <a:off x="9738360" y="2340895"/>
            <a:ext cx="1993392" cy="13731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478213"/>
            <a:ext cx="1993392" cy="122605"/>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00819"/>
            <a:ext cx="1993392" cy="88275"/>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689095"/>
            <a:ext cx="1993392" cy="68659"/>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57754"/>
            <a:ext cx="1993392" cy="58850"/>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738360" y="2816605"/>
            <a:ext cx="1993392" cy="44137"/>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8" name="TextBox 87"/>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89" name="Rectangle 88"/>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46</a:t>
            </a:r>
          </a:p>
        </p:txBody>
      </p:sp>
      <p:sp>
        <p:nvSpPr>
          <p:cNvPr id="92" name="TextBox 91"/>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93" name="Rectangle 92"/>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601200" y="3803904"/>
            <a:ext cx="159026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40</a:t>
            </a:r>
          </a:p>
        </p:txBody>
      </p:sp>
      <p:sp>
        <p:nvSpPr>
          <p:cNvPr id="96" name="TextBox 95"/>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97" name="Rectangle 96"/>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601200" y="3968496"/>
            <a:ext cx="1431234"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36</a:t>
            </a:r>
          </a:p>
        </p:txBody>
      </p:sp>
      <p:sp>
        <p:nvSpPr>
          <p:cNvPr id="100" name="TextBox 99"/>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1" name="Rectangle 100"/>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601200" y="4133088"/>
            <a:ext cx="1232452"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31</a:t>
            </a:r>
          </a:p>
        </p:txBody>
      </p:sp>
      <p:sp>
        <p:nvSpPr>
          <p:cNvPr id="104" name="TextBox 103"/>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105" name="Rectangle 104"/>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601200" y="4297680"/>
            <a:ext cx="1192695"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30</a:t>
            </a:r>
          </a:p>
        </p:txBody>
      </p:sp>
      <p:sp>
        <p:nvSpPr>
          <p:cNvPr id="108" name="TextBox 107"/>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CoinPost</a:t>
            </a:r>
          </a:p>
        </p:txBody>
      </p:sp>
      <p:sp>
        <p:nvSpPr>
          <p:cNvPr id="109" name="Rectangle 108"/>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601200" y="4462272"/>
            <a:ext cx="1073426"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27</a:t>
            </a:r>
          </a:p>
        </p:txBody>
      </p:sp>
      <p:sp>
        <p:nvSpPr>
          <p:cNvPr id="112" name="Rectangle 111"/>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5" name="Rounded Rectangle 114"/>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225</a:t>
            </a:r>
          </a:p>
        </p:txBody>
      </p:sp>
      <p:sp>
        <p:nvSpPr>
          <p:cNvPr id="117" name="Rounded Rectangle 116"/>
          <p:cNvSpPr/>
          <p:nvPr/>
        </p:nvSpPr>
        <p:spPr>
          <a:xfrm>
            <a:off x="8065008"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110728"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37</a:t>
            </a:r>
          </a:p>
        </p:txBody>
      </p:sp>
      <p:sp>
        <p:nvSpPr>
          <p:cNvPr id="119" name="Rounded Rectangle 118"/>
          <p:cNvSpPr/>
          <p:nvPr/>
        </p:nvSpPr>
        <p:spPr>
          <a:xfrm>
            <a:off x="8860536"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906256"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ANA 36</a:t>
            </a:r>
          </a:p>
        </p:txBody>
      </p:sp>
      <p:sp>
        <p:nvSpPr>
          <p:cNvPr id="121" name="Rounded Rectangle 120"/>
          <p:cNvSpPr/>
          <p:nvPr/>
        </p:nvSpPr>
        <p:spPr>
          <a:xfrm>
            <a:off x="9656064" y="515721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01784" y="517550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29</a:t>
            </a:r>
          </a:p>
        </p:txBody>
      </p:sp>
      <p:sp>
        <p:nvSpPr>
          <p:cNvPr id="123" name="Rounded Rectangle 122"/>
          <p:cNvSpPr/>
          <p:nvPr/>
        </p:nvSpPr>
        <p:spPr>
          <a:xfrm>
            <a:off x="10817352"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863072" y="517550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29</a:t>
            </a:r>
          </a:p>
        </p:txBody>
      </p:sp>
      <p:sp>
        <p:nvSpPr>
          <p:cNvPr id="125" name="Rounded Rectangle 124"/>
          <p:cNvSpPr/>
          <p:nvPr/>
        </p:nvSpPr>
        <p:spPr>
          <a:xfrm>
            <a:off x="7360920" y="543153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406640" y="544982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28</a:t>
            </a:r>
          </a:p>
        </p:txBody>
      </p:sp>
      <p:sp>
        <p:nvSpPr>
          <p:cNvPr id="127" name="Rounded Rectangle 126"/>
          <p:cNvSpPr/>
          <p:nvPr/>
        </p:nvSpPr>
        <p:spPr>
          <a:xfrm>
            <a:off x="8247888"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293608"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24</a:t>
            </a:r>
          </a:p>
        </p:txBody>
      </p:sp>
      <p:sp>
        <p:nvSpPr>
          <p:cNvPr id="129" name="Rounded Rectangle 128"/>
          <p:cNvSpPr/>
          <p:nvPr/>
        </p:nvSpPr>
        <p:spPr>
          <a:xfrm>
            <a:off x="9043416" y="5431536"/>
            <a:ext cx="14721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089136" y="5449824"/>
            <a:ext cx="13807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Hyperliquid 21</a:t>
            </a:r>
          </a:p>
        </p:txBody>
      </p:sp>
      <p:sp>
        <p:nvSpPr>
          <p:cNvPr id="131" name="Rounded Rectangle 130"/>
          <p:cNvSpPr/>
          <p:nvPr/>
        </p:nvSpPr>
        <p:spPr>
          <a:xfrm>
            <a:off x="10570464"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616184"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20</a:t>
            </a:r>
          </a:p>
        </p:txBody>
      </p:sp>
      <p:sp>
        <p:nvSpPr>
          <p:cNvPr id="133" name="Rounded Rectangle 132"/>
          <p:cNvSpPr/>
          <p:nvPr/>
        </p:nvSpPr>
        <p:spPr>
          <a:xfrm>
            <a:off x="7360920" y="570585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406640" y="572414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19</a:t>
            </a:r>
          </a:p>
        </p:txBody>
      </p:sp>
      <p:sp>
        <p:nvSpPr>
          <p:cNvPr id="135" name="Rounded Rectangle 134"/>
          <p:cNvSpPr/>
          <p:nvPr/>
        </p:nvSpPr>
        <p:spPr>
          <a:xfrm>
            <a:off x="8613648"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659368"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15</a:t>
            </a:r>
          </a:p>
        </p:txBody>
      </p:sp>
      <p:sp>
        <p:nvSpPr>
          <p:cNvPr id="137" name="Rounded Rectangle 136"/>
          <p:cNvSpPr/>
          <p:nvPr/>
        </p:nvSpPr>
        <p:spPr>
          <a:xfrm>
            <a:off x="9592056"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637776"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Layer 15</a:t>
            </a:r>
          </a:p>
        </p:txBody>
      </p:sp>
      <p:sp>
        <p:nvSpPr>
          <p:cNvPr id="139" name="Rounded Rectangle 138"/>
          <p:cNvSpPr/>
          <p:nvPr/>
        </p:nvSpPr>
        <p:spPr>
          <a:xfrm>
            <a:off x="10570464"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0616184"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JPYC 14</a:t>
            </a:r>
          </a:p>
        </p:txBody>
      </p:sp>
      <p:sp>
        <p:nvSpPr>
          <p:cNvPr id="141" name="Rounded Rectangle 140"/>
          <p:cNvSpPr/>
          <p:nvPr/>
        </p:nvSpPr>
        <p:spPr>
          <a:xfrm>
            <a:off x="7360920" y="598017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406640" y="599846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exploit 14</a:t>
            </a:r>
          </a:p>
        </p:txBody>
      </p:sp>
      <p:sp>
        <p:nvSpPr>
          <p:cNvPr id="143" name="Rounded Rectangle 142"/>
          <p:cNvSpPr/>
          <p:nvPr/>
        </p:nvSpPr>
        <p:spPr>
          <a:xfrm>
            <a:off x="8522208" y="598017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8567928" y="599846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ステーブル 13</a:t>
            </a:r>
          </a:p>
        </p:txBody>
      </p:sp>
      <p:sp>
        <p:nvSpPr>
          <p:cNvPr id="145" name="Rounded Rectangle 144"/>
          <p:cNvSpPr/>
          <p:nvPr/>
        </p:nvSpPr>
        <p:spPr>
          <a:xfrm>
            <a:off x="9500616"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546336"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13</a:t>
            </a:r>
          </a:p>
        </p:txBody>
      </p:sp>
      <p:sp>
        <p:nvSpPr>
          <p:cNvPr id="147" name="Rounded Rectangle 146"/>
          <p:cNvSpPr/>
          <p:nvPr/>
        </p:nvSpPr>
        <p:spPr>
          <a:xfrm>
            <a:off x="10387584"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0433304"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CFTC 12</a:t>
            </a:r>
          </a:p>
        </p:txBody>
      </p:sp>
      <p:sp>
        <p:nvSpPr>
          <p:cNvPr id="149" name="Rounded Rectangle 148"/>
          <p:cNvSpPr/>
          <p:nvPr/>
        </p:nvSpPr>
        <p:spPr>
          <a:xfrm>
            <a:off x="7360920" y="625449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7406640" y="627278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法案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2026-05-17</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(日)</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179</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27</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152</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7</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ビットコイン、ETF資金流出でも8万ドル台を維持──米クラリティ法案と株高が支えに【価格分析】</a:t>
            </a:r>
          </a:p>
          <a:p>
            <a:pPr algn="l"/>
            <a:r>
              <a:rPr sz="850" b="1">
                <a:solidFill>
                  <a:srgbClr val="FF3D8A"/>
                </a:solidFill>
                <a:latin typeface="Yu Gothic UI"/>
              </a:rPr>
              <a:t>CoinDesk Japan  ·  19:48  ·  規制・政策</a:t>
            </a:r>
          </a:p>
          <a:p>
            <a:pPr algn="l"/>
            <a:r>
              <a:rPr sz="900" b="0">
                <a:solidFill>
                  <a:srgbClr val="9AA8C4"/>
                </a:solidFill>
                <a:latin typeface="Yu Gothic UI"/>
              </a:rPr>
              <a:t>・ビットコイン（BTC）は、米国のCLARITY法案をめぐるマークアップ審議と、ナスダックおよびS&amp;#38;P500の過去最高値更新を受けて市場全体のリスク選好 ...</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Strategy、約2300億円相当の転換社債を割引価格で買い戻しへ──資金確保にビットコイン売却も検討</a:t>
            </a:r>
          </a:p>
          <a:p>
            <a:pPr algn="l"/>
            <a:r>
              <a:rPr sz="850" b="1">
                <a:solidFill>
                  <a:srgbClr val="FF3D8A"/>
                </a:solidFill>
                <a:latin typeface="Yu Gothic UI"/>
              </a:rPr>
              <a:t>CoinDesk Japan  ·  09:00  ·  ETF・機関</a:t>
            </a:r>
          </a:p>
          <a:p>
            <a:pPr algn="l"/>
            <a:r>
              <a:rPr sz="900" b="0">
                <a:solidFill>
                  <a:srgbClr val="9AA8C4"/>
                </a:solidFill>
                <a:latin typeface="Yu Gothic UI"/>
              </a:rPr>
              <a:t>ビットコイン（BTC）を大量保有するStrategy（ストラテジー）は、15億ドル（約2300億円、1ドル＝155円換算）相当の転換社債を割引価格で買い戻す計画 ...</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House Agriculture leaders press Trump to appoint CFTC commissioners as CL…</a:t>
            </a:r>
          </a:p>
          <a:p>
            <a:pPr algn="l"/>
            <a:r>
              <a:rPr sz="850" b="1">
                <a:solidFill>
                  <a:srgbClr val="FFC107"/>
                </a:solidFill>
                <a:latin typeface="Yu Gothic UI"/>
              </a:rPr>
              <a:t>The Block  ·  05:57  ·  規制・政策</a:t>
            </a:r>
          </a:p>
          <a:p>
            <a:pPr algn="l"/>
            <a:r>
              <a:rPr sz="900" b="0">
                <a:solidFill>
                  <a:srgbClr val="9AA8C4"/>
                </a:solidFill>
                <a:latin typeface="Yu Gothic UI"/>
              </a:rPr>
              <a:t>Chair Michael Selig has been the agency's sole commissioner since December, with four seats sitting empty, as Trump has not nomi…</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House committee leaders urge Trump to nominate CFTC members, citing CLARI…</a:t>
            </a:r>
          </a:p>
          <a:p>
            <a:pPr algn="l"/>
            <a:r>
              <a:rPr sz="850" b="1">
                <a:solidFill>
                  <a:srgbClr val="FFC107"/>
                </a:solidFill>
                <a:latin typeface="Yu Gothic UI"/>
              </a:rPr>
              <a:t>Cointelegraph  ·  08:10  ·  規制・政策</a:t>
            </a:r>
          </a:p>
          <a:p>
            <a:pPr algn="l"/>
            <a:r>
              <a:rPr sz="900" b="0">
                <a:solidFill>
                  <a:srgbClr val="9AA8C4"/>
                </a:solidFill>
                <a:latin typeface="Yu Gothic UI"/>
              </a:rPr>
              <a:t>The US Commodity Futures Trading Commission is currently headed by Chair Michael Selig, with no public statement from Donald Tru…</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House committee leaders urge Trump to nominate CFTC members, citing CLARI…</a:t>
            </a:r>
          </a:p>
          <a:p>
            <a:pPr algn="l"/>
            <a:r>
              <a:rPr sz="850" b="1">
                <a:solidFill>
                  <a:srgbClr val="4AE3A3"/>
                </a:solidFill>
                <a:latin typeface="Yu Gothic UI"/>
              </a:rPr>
              <a:t>Cointelegraph  ·  08:10  ·  規制・政策</a:t>
            </a:r>
          </a:p>
          <a:p>
            <a:pPr algn="l"/>
            <a:r>
              <a:rPr sz="900" b="0">
                <a:solidFill>
                  <a:srgbClr val="9AA8C4"/>
                </a:solidFill>
                <a:latin typeface="Yu Gothic UI"/>
              </a:rPr>
              <a:t>The US Commodity Futures Trading Commission is currently headed by Chair Michael Selig, with no public statement from Donald Tru…</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61</a:t>
            </a:r>
          </a:p>
        </p:txBody>
      </p:sp>
      <p:sp>
        <p:nvSpPr>
          <p:cNvPr id="54" name="Rectangle 53"/>
          <p:cNvSpPr/>
          <p:nvPr/>
        </p:nvSpPr>
        <p:spPr>
          <a:xfrm>
            <a:off x="7315200" y="1636776"/>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30</a:t>
            </a:r>
          </a:p>
        </p:txBody>
      </p:sp>
      <p:sp>
        <p:nvSpPr>
          <p:cNvPr id="57" name="Rectangle 56"/>
          <p:cNvSpPr/>
          <p:nvPr/>
        </p:nvSpPr>
        <p:spPr>
          <a:xfrm>
            <a:off x="7315200" y="1847088"/>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29</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15</a:t>
            </a:r>
          </a:p>
        </p:txBody>
      </p:sp>
      <p:sp>
        <p:nvSpPr>
          <p:cNvPr id="63" name="Rectangle 62"/>
          <p:cNvSpPr/>
          <p:nvPr/>
        </p:nvSpPr>
        <p:spPr>
          <a:xfrm>
            <a:off x="7315200" y="2267712"/>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11</a:t>
            </a:r>
          </a:p>
        </p:txBody>
      </p:sp>
      <p:sp>
        <p:nvSpPr>
          <p:cNvPr id="66" name="Rectangle 65"/>
          <p:cNvSpPr/>
          <p:nvPr/>
        </p:nvSpPr>
        <p:spPr>
          <a:xfrm>
            <a:off x="7315200" y="2478024"/>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11</a:t>
            </a:r>
          </a:p>
        </p:txBody>
      </p:sp>
      <p:sp>
        <p:nvSpPr>
          <p:cNvPr id="69" name="Rectangle 68"/>
          <p:cNvSpPr/>
          <p:nvPr/>
        </p:nvSpPr>
        <p:spPr>
          <a:xfrm>
            <a:off x="7315200" y="2688336"/>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9</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482997"/>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446421"/>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34%</a:t>
            </a:r>
          </a:p>
        </p:txBody>
      </p:sp>
      <p:sp>
        <p:nvSpPr>
          <p:cNvPr id="75" name="Rectangle 74"/>
          <p:cNvSpPr/>
          <p:nvPr/>
        </p:nvSpPr>
        <p:spPr>
          <a:xfrm>
            <a:off x="9738360" y="1946037"/>
            <a:ext cx="1993392" cy="237539"/>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964325"/>
            <a:ext cx="1901952" cy="200963"/>
          </a:xfrm>
          <a:prstGeom prst="rect">
            <a:avLst/>
          </a:prstGeom>
          <a:noFill/>
        </p:spPr>
        <p:txBody>
          <a:bodyPr wrap="square" lIns="36000" rIns="36000" tIns="18000" bIns="18000" anchor="t">
            <a:spAutoFit/>
          </a:bodyPr>
          <a:lstStyle/>
          <a:p>
            <a:pPr algn="l"/>
            <a:r>
              <a:rPr sz="800" b="1">
                <a:solidFill>
                  <a:srgbClr val="0B142A"/>
                </a:solidFill>
                <a:latin typeface="Yu Gothic UI"/>
              </a:rPr>
              <a:t>AI・技術 17%</a:t>
            </a:r>
          </a:p>
        </p:txBody>
      </p:sp>
      <p:sp>
        <p:nvSpPr>
          <p:cNvPr id="77" name="Rectangle 76"/>
          <p:cNvSpPr/>
          <p:nvPr/>
        </p:nvSpPr>
        <p:spPr>
          <a:xfrm>
            <a:off x="9738360" y="2183576"/>
            <a:ext cx="1993392" cy="229621"/>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201864"/>
            <a:ext cx="1901952" cy="193045"/>
          </a:xfrm>
          <a:prstGeom prst="rect">
            <a:avLst/>
          </a:prstGeom>
          <a:noFill/>
        </p:spPr>
        <p:txBody>
          <a:bodyPr wrap="square" lIns="36000" rIns="36000" tIns="18000" bIns="18000" anchor="t">
            <a:spAutoFit/>
          </a:bodyPr>
          <a:lstStyle/>
          <a:p>
            <a:pPr algn="l"/>
            <a:r>
              <a:rPr sz="800" b="1">
                <a:solidFill>
                  <a:srgbClr val="0B142A"/>
                </a:solidFill>
                <a:latin typeface="Yu Gothic UI"/>
              </a:rPr>
              <a:t>その他 16%</a:t>
            </a:r>
          </a:p>
        </p:txBody>
      </p:sp>
      <p:sp>
        <p:nvSpPr>
          <p:cNvPr id="79" name="Rectangle 78"/>
          <p:cNvSpPr/>
          <p:nvPr/>
        </p:nvSpPr>
        <p:spPr>
          <a:xfrm>
            <a:off x="9738360" y="2413198"/>
            <a:ext cx="1993392" cy="118769"/>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738360" y="2531968"/>
            <a:ext cx="1993392" cy="87097"/>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38360" y="2619066"/>
            <a:ext cx="1993392" cy="87097"/>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706164"/>
            <a:ext cx="1993392" cy="71261"/>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77426"/>
            <a:ext cx="1993392" cy="39589"/>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7" name="TextBox 86"/>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88" name="Rectangle 87"/>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27</a:t>
            </a:r>
          </a:p>
        </p:txBody>
      </p:sp>
      <p:sp>
        <p:nvSpPr>
          <p:cNvPr id="91" name="TextBox 90"/>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Pypi.org</a:t>
            </a:r>
          </a:p>
        </p:txBody>
      </p:sp>
      <p:sp>
        <p:nvSpPr>
          <p:cNvPr id="92" name="Rectangle 91"/>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601200" y="3803904"/>
            <a:ext cx="14224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21</a:t>
            </a:r>
          </a:p>
        </p:txBody>
      </p:sp>
      <p:sp>
        <p:nvSpPr>
          <p:cNvPr id="95" name="TextBox 94"/>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 Japan</a:t>
            </a:r>
          </a:p>
        </p:txBody>
      </p:sp>
      <p:sp>
        <p:nvSpPr>
          <p:cNvPr id="96" name="Rectangle 95"/>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601200" y="3968496"/>
            <a:ext cx="948266"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14</a:t>
            </a:r>
          </a:p>
        </p:txBody>
      </p:sp>
      <p:sp>
        <p:nvSpPr>
          <p:cNvPr id="99" name="TextBox 98"/>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100" name="Rectangle 99"/>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601200" y="4133088"/>
            <a:ext cx="948266"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14</a:t>
            </a:r>
          </a:p>
        </p:txBody>
      </p:sp>
      <p:sp>
        <p:nvSpPr>
          <p:cNvPr id="103" name="TextBox 102"/>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CoinPost</a:t>
            </a:r>
          </a:p>
        </p:txBody>
      </p:sp>
      <p:sp>
        <p:nvSpPr>
          <p:cNvPr id="104" name="Rectangle 103"/>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601200" y="4297680"/>
            <a:ext cx="880533"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13</a:t>
            </a:r>
          </a:p>
        </p:txBody>
      </p:sp>
      <p:sp>
        <p:nvSpPr>
          <p:cNvPr id="107" name="TextBox 106"/>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Decrypt</a:t>
            </a:r>
          </a:p>
        </p:txBody>
      </p:sp>
      <p:sp>
        <p:nvSpPr>
          <p:cNvPr id="108" name="Rectangle 107"/>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601200" y="4462272"/>
            <a:ext cx="812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12</a:t>
            </a:r>
          </a:p>
        </p:txBody>
      </p:sp>
      <p:sp>
        <p:nvSpPr>
          <p:cNvPr id="111" name="Rectangle 110"/>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4" name="Rounded Rectangle 113"/>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134</a:t>
            </a:r>
          </a:p>
        </p:txBody>
      </p:sp>
      <p:sp>
        <p:nvSpPr>
          <p:cNvPr id="116" name="Rounded Rectangle 115"/>
          <p:cNvSpPr/>
          <p:nvPr/>
        </p:nvSpPr>
        <p:spPr>
          <a:xfrm>
            <a:off x="8065008" y="515721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110728" y="5175504"/>
            <a:ext cx="74066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MiCA 30</a:t>
            </a:r>
          </a:p>
        </p:txBody>
      </p:sp>
      <p:sp>
        <p:nvSpPr>
          <p:cNvPr id="118" name="Rounded Rectangle 117"/>
          <p:cNvSpPr/>
          <p:nvPr/>
        </p:nvSpPr>
        <p:spPr>
          <a:xfrm>
            <a:off x="8951976" y="515721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997696" y="5175504"/>
            <a:ext cx="55778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EU 29</a:t>
            </a:r>
          </a:p>
        </p:txBody>
      </p:sp>
      <p:sp>
        <p:nvSpPr>
          <p:cNvPr id="120" name="Rounded Rectangle 119"/>
          <p:cNvSpPr/>
          <p:nvPr/>
        </p:nvSpPr>
        <p:spPr>
          <a:xfrm>
            <a:off x="9656064"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701784" y="5175504"/>
            <a:ext cx="64922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ANA 24</a:t>
            </a:r>
          </a:p>
        </p:txBody>
      </p:sp>
      <p:sp>
        <p:nvSpPr>
          <p:cNvPr id="122" name="Rounded Rectangle 121"/>
          <p:cNvSpPr/>
          <p:nvPr/>
        </p:nvSpPr>
        <p:spPr>
          <a:xfrm>
            <a:off x="10451592"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0497312"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ETF 22</a:t>
            </a:r>
          </a:p>
        </p:txBody>
      </p:sp>
      <p:sp>
        <p:nvSpPr>
          <p:cNvPr id="124" name="Rounded Rectangle 123"/>
          <p:cNvSpPr/>
          <p:nvPr/>
        </p:nvSpPr>
        <p:spPr>
          <a:xfrm>
            <a:off x="7360920" y="543153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406640" y="544982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Trump 20</a:t>
            </a:r>
          </a:p>
        </p:txBody>
      </p:sp>
      <p:sp>
        <p:nvSpPr>
          <p:cNvPr id="126" name="Rounded Rectangle 125"/>
          <p:cNvSpPr/>
          <p:nvPr/>
        </p:nvSpPr>
        <p:spPr>
          <a:xfrm>
            <a:off x="8339328" y="5431536"/>
            <a:ext cx="147218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385048" y="5449824"/>
            <a:ext cx="138074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Hyperliquid 16</a:t>
            </a:r>
          </a:p>
        </p:txBody>
      </p:sp>
      <p:sp>
        <p:nvSpPr>
          <p:cNvPr id="128" name="Rounded Rectangle 127"/>
          <p:cNvSpPr/>
          <p:nvPr/>
        </p:nvSpPr>
        <p:spPr>
          <a:xfrm>
            <a:off x="9866376" y="543153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912096" y="544982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miner 15</a:t>
            </a:r>
          </a:p>
        </p:txBody>
      </p:sp>
      <p:sp>
        <p:nvSpPr>
          <p:cNvPr id="130" name="Rounded Rectangle 129"/>
          <p:cNvSpPr/>
          <p:nvPr/>
        </p:nvSpPr>
        <p:spPr>
          <a:xfrm>
            <a:off x="7360920" y="570585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406640" y="572414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14</a:t>
            </a:r>
          </a:p>
        </p:txBody>
      </p:sp>
      <p:sp>
        <p:nvSpPr>
          <p:cNvPr id="132" name="Rounded Rectangle 131"/>
          <p:cNvSpPr/>
          <p:nvPr/>
        </p:nvSpPr>
        <p:spPr>
          <a:xfrm>
            <a:off x="8522208"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567928"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JPYC 14</a:t>
            </a:r>
          </a:p>
        </p:txBody>
      </p:sp>
      <p:sp>
        <p:nvSpPr>
          <p:cNvPr id="134" name="Rounded Rectangle 133"/>
          <p:cNvSpPr/>
          <p:nvPr/>
        </p:nvSpPr>
        <p:spPr>
          <a:xfrm>
            <a:off x="9409176"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9454896"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14</a:t>
            </a:r>
          </a:p>
        </p:txBody>
      </p:sp>
      <p:sp>
        <p:nvSpPr>
          <p:cNvPr id="136" name="Rounded Rectangle 135"/>
          <p:cNvSpPr/>
          <p:nvPr/>
        </p:nvSpPr>
        <p:spPr>
          <a:xfrm>
            <a:off x="10296144" y="570585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0341864" y="572414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10</a:t>
            </a:r>
          </a:p>
        </p:txBody>
      </p:sp>
      <p:sp>
        <p:nvSpPr>
          <p:cNvPr id="138" name="Rounded Rectangle 137"/>
          <p:cNvSpPr/>
          <p:nvPr/>
        </p:nvSpPr>
        <p:spPr>
          <a:xfrm>
            <a:off x="11000232" y="570585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1045952" y="572414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法案 9</a:t>
            </a:r>
          </a:p>
        </p:txBody>
      </p:sp>
      <p:sp>
        <p:nvSpPr>
          <p:cNvPr id="140" name="Rounded Rectangle 139"/>
          <p:cNvSpPr/>
          <p:nvPr/>
        </p:nvSpPr>
        <p:spPr>
          <a:xfrm>
            <a:off x="7360920"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406640"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CFTC 8</a:t>
            </a:r>
          </a:p>
        </p:txBody>
      </p:sp>
      <p:sp>
        <p:nvSpPr>
          <p:cNvPr id="142" name="Rounded Rectangle 141"/>
          <p:cNvSpPr/>
          <p:nvPr/>
        </p:nvSpPr>
        <p:spPr>
          <a:xfrm>
            <a:off x="8247888"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293608"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USDC 8</a:t>
            </a:r>
          </a:p>
        </p:txBody>
      </p:sp>
      <p:sp>
        <p:nvSpPr>
          <p:cNvPr id="144" name="Rounded Rectangle 143"/>
          <p:cNvSpPr/>
          <p:nvPr/>
        </p:nvSpPr>
        <p:spPr>
          <a:xfrm>
            <a:off x="9134856" y="598017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80576" y="599846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7</a:t>
            </a:r>
          </a:p>
        </p:txBody>
      </p:sp>
      <p:sp>
        <p:nvSpPr>
          <p:cNvPr id="146" name="Rounded Rectangle 145"/>
          <p:cNvSpPr/>
          <p:nvPr/>
        </p:nvSpPr>
        <p:spPr>
          <a:xfrm>
            <a:off x="9930384"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9976104"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上昇 7</a:t>
            </a:r>
          </a:p>
        </p:txBody>
      </p:sp>
      <p:sp>
        <p:nvSpPr>
          <p:cNvPr id="148" name="Rounded Rectangle 147"/>
          <p:cNvSpPr/>
          <p:nvPr/>
        </p:nvSpPr>
        <p:spPr>
          <a:xfrm>
            <a:off x="10634472" y="598017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0680192" y="599846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Layer 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1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029200" cy="411480"/>
          </a:xfrm>
          <a:prstGeom prst="rect">
            <a:avLst/>
          </a:prstGeom>
          <a:noFill/>
        </p:spPr>
        <p:txBody>
          <a:bodyPr wrap="square" lIns="36000" rIns="36000" tIns="18000" bIns="18000" anchor="t">
            <a:spAutoFit/>
          </a:bodyPr>
          <a:lstStyle/>
          <a:p>
            <a:pPr algn="l"/>
            <a:r>
              <a:rPr sz="2200" b="1">
                <a:solidFill>
                  <a:srgbClr val="00E5FF"/>
                </a:solidFill>
                <a:latin typeface="Yu Gothic UI"/>
              </a:rPr>
              <a:t>DAILY DIGEST  /  2026-05-18</a:t>
            </a:r>
          </a:p>
        </p:txBody>
      </p:sp>
      <p:sp>
        <p:nvSpPr>
          <p:cNvPr id="6" name="TextBox 5"/>
          <p:cNvSpPr txBox="1"/>
          <p:nvPr/>
        </p:nvSpPr>
        <p:spPr>
          <a:xfrm>
            <a:off x="274320" y="457200"/>
            <a:ext cx="5029200" cy="320040"/>
          </a:xfrm>
          <a:prstGeom prst="rect">
            <a:avLst/>
          </a:prstGeom>
          <a:noFill/>
        </p:spPr>
        <p:txBody>
          <a:bodyPr wrap="square" lIns="36000" rIns="36000" tIns="18000" bIns="18000" anchor="t">
            <a:spAutoFit/>
          </a:bodyPr>
          <a:lstStyle/>
          <a:p>
            <a:pPr algn="l"/>
            <a:r>
              <a:rPr sz="1100" b="0">
                <a:solidFill>
                  <a:srgbClr val="9AA8C4"/>
                </a:solidFill>
                <a:latin typeface="Yu Gothic UI"/>
              </a:rPr>
              <a:t>WEB3 / Crypto News Roundup (月)</a:t>
            </a:r>
          </a:p>
        </p:txBody>
      </p:sp>
      <p:sp>
        <p:nvSpPr>
          <p:cNvPr id="7" name="Rectangle 6"/>
          <p:cNvSpPr/>
          <p:nvPr/>
        </p:nvSpPr>
        <p:spPr>
          <a:xfrm>
            <a:off x="5394960"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総数</a:t>
            </a:r>
          </a:p>
        </p:txBody>
      </p:sp>
      <p:sp>
        <p:nvSpPr>
          <p:cNvPr id="9" name="TextBox 8"/>
          <p:cNvSpPr txBox="1"/>
          <p:nvPr/>
        </p:nvSpPr>
        <p:spPr>
          <a:xfrm>
            <a:off x="5486400" y="310896"/>
            <a:ext cx="1371600" cy="365760"/>
          </a:xfrm>
          <a:prstGeom prst="rect">
            <a:avLst/>
          </a:prstGeom>
          <a:noFill/>
        </p:spPr>
        <p:txBody>
          <a:bodyPr wrap="square" lIns="36000" rIns="36000" tIns="18000" bIns="18000" anchor="t">
            <a:spAutoFit/>
          </a:bodyPr>
          <a:lstStyle/>
          <a:p>
            <a:pPr algn="l"/>
            <a:r>
              <a:rPr sz="1800" b="1">
                <a:solidFill>
                  <a:srgbClr val="00E5FF"/>
                </a:solidFill>
                <a:latin typeface="Yu Gothic UI"/>
              </a:rPr>
              <a:t>209</a:t>
            </a:r>
          </a:p>
        </p:txBody>
      </p:sp>
      <p:sp>
        <p:nvSpPr>
          <p:cNvPr id="10" name="Rectangle 9"/>
          <p:cNvSpPr/>
          <p:nvPr/>
        </p:nvSpPr>
        <p:spPr>
          <a:xfrm>
            <a:off x="7022592"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国内</a:t>
            </a:r>
          </a:p>
        </p:txBody>
      </p:sp>
      <p:sp>
        <p:nvSpPr>
          <p:cNvPr id="12" name="TextBox 11"/>
          <p:cNvSpPr txBox="1"/>
          <p:nvPr/>
        </p:nvSpPr>
        <p:spPr>
          <a:xfrm>
            <a:off x="7114032" y="310896"/>
            <a:ext cx="1371600" cy="365760"/>
          </a:xfrm>
          <a:prstGeom prst="rect">
            <a:avLst/>
          </a:prstGeom>
          <a:noFill/>
        </p:spPr>
        <p:txBody>
          <a:bodyPr wrap="square" lIns="36000" rIns="36000" tIns="18000" bIns="18000" anchor="t">
            <a:spAutoFit/>
          </a:bodyPr>
          <a:lstStyle/>
          <a:p>
            <a:pPr algn="l"/>
            <a:r>
              <a:rPr sz="1800" b="1">
                <a:solidFill>
                  <a:srgbClr val="6E8BFF"/>
                </a:solidFill>
                <a:latin typeface="Yu Gothic UI"/>
              </a:rPr>
              <a:t>40</a:t>
            </a:r>
          </a:p>
        </p:txBody>
      </p:sp>
      <p:sp>
        <p:nvSpPr>
          <p:cNvPr id="13" name="Rectangle 12"/>
          <p:cNvSpPr/>
          <p:nvPr/>
        </p:nvSpPr>
        <p:spPr>
          <a:xfrm>
            <a:off x="8650224"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海外</a:t>
            </a:r>
          </a:p>
        </p:txBody>
      </p:sp>
      <p:sp>
        <p:nvSpPr>
          <p:cNvPr id="15" name="TextBox 14"/>
          <p:cNvSpPr txBox="1"/>
          <p:nvPr/>
        </p:nvSpPr>
        <p:spPr>
          <a:xfrm>
            <a:off x="8741664" y="310896"/>
            <a:ext cx="1371600" cy="365760"/>
          </a:xfrm>
          <a:prstGeom prst="rect">
            <a:avLst/>
          </a:prstGeom>
          <a:noFill/>
        </p:spPr>
        <p:txBody>
          <a:bodyPr wrap="square" lIns="36000" rIns="36000" tIns="18000" bIns="18000" anchor="t">
            <a:spAutoFit/>
          </a:bodyPr>
          <a:lstStyle/>
          <a:p>
            <a:pPr algn="l"/>
            <a:r>
              <a:rPr sz="1800" b="1">
                <a:solidFill>
                  <a:srgbClr val="FFC107"/>
                </a:solidFill>
                <a:latin typeface="Yu Gothic UI"/>
              </a:rPr>
              <a:t>169</a:t>
            </a:r>
          </a:p>
        </p:txBody>
      </p:sp>
      <p:sp>
        <p:nvSpPr>
          <p:cNvPr id="16" name="Rectangle 15"/>
          <p:cNvSpPr/>
          <p:nvPr/>
        </p:nvSpPr>
        <p:spPr>
          <a:xfrm>
            <a:off x="10277856" y="109728"/>
            <a:ext cx="1554480" cy="566928"/>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69296" y="128016"/>
            <a:ext cx="1371600" cy="228600"/>
          </a:xfrm>
          <a:prstGeom prst="rect">
            <a:avLst/>
          </a:prstGeom>
          <a:noFill/>
        </p:spPr>
        <p:txBody>
          <a:bodyPr wrap="square" lIns="36000" rIns="36000" tIns="18000" bIns="18000" anchor="t">
            <a:spAutoFit/>
          </a:bodyPr>
          <a:lstStyle/>
          <a:p>
            <a:pPr algn="l"/>
            <a:r>
              <a:rPr sz="900" b="0">
                <a:solidFill>
                  <a:srgbClr val="9AA8C4"/>
                </a:solidFill>
                <a:latin typeface="Yu Gothic UI"/>
              </a:rPr>
              <a:t>重大</a:t>
            </a:r>
          </a:p>
        </p:txBody>
      </p:sp>
      <p:sp>
        <p:nvSpPr>
          <p:cNvPr id="18" name="TextBox 17"/>
          <p:cNvSpPr txBox="1"/>
          <p:nvPr/>
        </p:nvSpPr>
        <p:spPr>
          <a:xfrm>
            <a:off x="10369296" y="310896"/>
            <a:ext cx="1371600" cy="365760"/>
          </a:xfrm>
          <a:prstGeom prst="rect">
            <a:avLst/>
          </a:prstGeom>
          <a:noFill/>
        </p:spPr>
        <p:txBody>
          <a:bodyPr wrap="square" lIns="36000" rIns="36000" tIns="18000" bIns="18000" anchor="t">
            <a:spAutoFit/>
          </a:bodyPr>
          <a:lstStyle/>
          <a:p>
            <a:pPr algn="l"/>
            <a:r>
              <a:rPr sz="1800" b="1">
                <a:solidFill>
                  <a:srgbClr val="FF3D8A"/>
                </a:solidFill>
                <a:latin typeface="Yu Gothic UI"/>
              </a:rPr>
              <a:t>5</a:t>
            </a:r>
          </a:p>
        </p:txBody>
      </p:sp>
      <p:sp>
        <p:nvSpPr>
          <p:cNvPr id="19" name="Rectangle 18"/>
          <p:cNvSpPr/>
          <p:nvPr/>
        </p:nvSpPr>
        <p:spPr>
          <a:xfrm>
            <a:off x="228600" y="960120"/>
            <a:ext cx="6812280" cy="576072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960120"/>
            <a:ext cx="109728" cy="57607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033272"/>
            <a:ext cx="6812280" cy="320040"/>
          </a:xfrm>
          <a:prstGeom prst="rect">
            <a:avLst/>
          </a:prstGeom>
          <a:noFill/>
        </p:spPr>
        <p:txBody>
          <a:bodyPr wrap="square" lIns="36000" rIns="36000" tIns="18000" bIns="18000" anchor="t">
            <a:spAutoFit/>
          </a:bodyPr>
          <a:lstStyle/>
          <a:p>
            <a:pPr algn="l"/>
            <a:r>
              <a:rPr sz="1300" b="1">
                <a:solidFill>
                  <a:srgbClr val="FF3D8A"/>
                </a:solidFill>
                <a:latin typeface="Yu Gothic UI"/>
              </a:rPr>
              <a:t>■ 今日の重大ニュース TOP 5</a:t>
            </a:r>
          </a:p>
        </p:txBody>
      </p:sp>
      <p:sp>
        <p:nvSpPr>
          <p:cNvPr id="22" name="TextBox 21"/>
          <p:cNvSpPr txBox="1"/>
          <p:nvPr/>
        </p:nvSpPr>
        <p:spPr>
          <a:xfrm>
            <a:off x="457200" y="1325880"/>
            <a:ext cx="6812280" cy="274320"/>
          </a:xfrm>
          <a:prstGeom prst="rect">
            <a:avLst/>
          </a:prstGeom>
          <a:noFill/>
        </p:spPr>
        <p:txBody>
          <a:bodyPr wrap="square" lIns="36000" rIns="36000" tIns="18000" bIns="18000" anchor="t">
            <a:spAutoFit/>
          </a:bodyPr>
          <a:lstStyle/>
          <a:p>
            <a:pPr algn="l"/>
            <a:r>
              <a:rPr sz="900" b="0">
                <a:solidFill>
                  <a:srgbClr val="9AA8C4"/>
                </a:solidFill>
                <a:latin typeface="Yu Gothic UI"/>
              </a:rPr>
              <a:t>規制成立 / 破綻 / 価格急変 / 巨額資金移動 等を自動抽出</a:t>
            </a:r>
          </a:p>
        </p:txBody>
      </p:sp>
      <p:sp>
        <p:nvSpPr>
          <p:cNvPr id="23" name="Rectangle 22"/>
          <p:cNvSpPr/>
          <p:nvPr/>
        </p:nvSpPr>
        <p:spPr>
          <a:xfrm>
            <a:off x="411480" y="167335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67335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83794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#1</a:t>
            </a:r>
          </a:p>
        </p:txBody>
      </p:sp>
      <p:sp>
        <p:nvSpPr>
          <p:cNvPr id="26" name="TextBox 25"/>
          <p:cNvSpPr txBox="1"/>
          <p:nvPr/>
        </p:nvSpPr>
        <p:spPr>
          <a:xfrm>
            <a:off x="411480" y="224028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27" name="TextBox 26"/>
          <p:cNvSpPr txBox="1"/>
          <p:nvPr/>
        </p:nvSpPr>
        <p:spPr>
          <a:xfrm>
            <a:off x="1051560" y="172821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クラリティ法案は8月までに可決されなければ成立が困難に：NYDIG</a:t>
            </a:r>
          </a:p>
          <a:p>
            <a:pPr algn="l"/>
            <a:r>
              <a:rPr sz="850" b="1">
                <a:solidFill>
                  <a:srgbClr val="FF3D8A"/>
                </a:solidFill>
                <a:latin typeface="Yu Gothic UI"/>
              </a:rPr>
              <a:t>CoinDesk Japan  ·  17:15  ·  規制・政策</a:t>
            </a:r>
          </a:p>
          <a:p>
            <a:pPr algn="l"/>
            <a:r>
              <a:rPr sz="900" b="0">
                <a:solidFill>
                  <a:srgbClr val="9AA8C4"/>
                </a:solidFill>
                <a:latin typeface="Yu Gothic UI"/>
              </a:rPr>
              <a:t>金融サービス会社NYDIGのグローバルリサーチ責任者、Greg Cipolaro（グレッグ・シポラロ）氏は5月15日付の週次レポートで、アメリカ上院で審議中の暗 ...</a:t>
            </a:r>
          </a:p>
        </p:txBody>
      </p:sp>
      <p:sp>
        <p:nvSpPr>
          <p:cNvPr id="28" name="Rectangle 27"/>
          <p:cNvSpPr/>
          <p:nvPr/>
        </p:nvSpPr>
        <p:spPr>
          <a:xfrm>
            <a:off x="411480" y="267919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2679192"/>
            <a:ext cx="502920" cy="960120"/>
          </a:xfrm>
          <a:prstGeom prst="rect">
            <a:avLst/>
          </a:prstGeom>
          <a:solidFill>
            <a:srgbClr val="FF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#2</a:t>
            </a:r>
          </a:p>
        </p:txBody>
      </p:sp>
      <p:sp>
        <p:nvSpPr>
          <p:cNvPr id="31" name="TextBox 30"/>
          <p:cNvSpPr txBox="1"/>
          <p:nvPr/>
        </p:nvSpPr>
        <p:spPr>
          <a:xfrm>
            <a:off x="411480" y="324612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2" name="TextBox 31"/>
          <p:cNvSpPr txBox="1"/>
          <p:nvPr/>
        </p:nvSpPr>
        <p:spPr>
          <a:xfrm>
            <a:off x="1051560" y="273405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ビットコインはボラタイルに推移し下落、CLARITY法案前進も米インフレ指標の上振れ米金利急騰で（仮想通貨市場レポート 5/18 号）</a:t>
            </a:r>
          </a:p>
          <a:p>
            <a:pPr algn="l"/>
            <a:r>
              <a:rPr sz="850" b="1">
                <a:solidFill>
                  <a:srgbClr val="FF3D8A"/>
                </a:solidFill>
                <a:latin typeface="Yu Gothic UI"/>
              </a:rPr>
              <a:t>あたらしい経済  ·  16:05  ·  規制・政策</a:t>
            </a:r>
          </a:p>
          <a:p>
            <a:pPr algn="l"/>
            <a:r>
              <a:rPr sz="900" b="0">
                <a:solidFill>
                  <a:srgbClr val="9AA8C4"/>
                </a:solidFill>
                <a:latin typeface="Yu Gothic UI"/>
              </a:rPr>
              <a:t>今週もSBI VCトレード提供の暗号資産（仮想通貨）に関するウィークリー・マーケットレポートをお届けします。 5/10~5/16週のサマリー 米上院銀行委員会、CLARITY法案を一部民主党議員の支持を得て可決、米国の暗 [&amp;#8230;]</a:t>
            </a:r>
          </a:p>
        </p:txBody>
      </p:sp>
      <p:sp>
        <p:nvSpPr>
          <p:cNvPr id="33" name="Rectangle 32"/>
          <p:cNvSpPr/>
          <p:nvPr/>
        </p:nvSpPr>
        <p:spPr>
          <a:xfrm>
            <a:off x="411480" y="368503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68503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962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#3</a:t>
            </a:r>
          </a:p>
        </p:txBody>
      </p:sp>
      <p:sp>
        <p:nvSpPr>
          <p:cNvPr id="36" name="TextBox 35"/>
          <p:cNvSpPr txBox="1"/>
          <p:nvPr/>
        </p:nvSpPr>
        <p:spPr>
          <a:xfrm>
            <a:off x="411480" y="425196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国内</a:t>
            </a:r>
          </a:p>
        </p:txBody>
      </p:sp>
      <p:sp>
        <p:nvSpPr>
          <p:cNvPr id="37" name="TextBox 36"/>
          <p:cNvSpPr txBox="1"/>
          <p:nvPr/>
        </p:nvSpPr>
        <p:spPr>
          <a:xfrm>
            <a:off x="1051560" y="373989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ビットコインは強気優勢も反転リスクに要注意、クラリティー法案可決で＝Santiment</a:t>
            </a:r>
          </a:p>
          <a:p>
            <a:pPr algn="l"/>
            <a:r>
              <a:rPr sz="850" b="1">
                <a:solidFill>
                  <a:srgbClr val="FFC107"/>
                </a:solidFill>
                <a:latin typeface="Yu Gothic UI"/>
              </a:rPr>
              <a:t>CoinPost  ·  07:36  ·  規制・政策</a:t>
            </a:r>
          </a:p>
          <a:p>
            <a:pPr algn="l"/>
            <a:r>
              <a:rPr sz="900" b="0">
                <a:solidFill>
                  <a:srgbClr val="9AA8C4"/>
                </a:solidFill>
                <a:latin typeface="Yu Gothic UI"/>
              </a:rPr>
              <a:t>米上院銀行委員会がCLARITY法案を15対9で可決。ビットコインへの強気センチメントが急上昇する一方、過熱感への警戒も高まっている。</a:t>
            </a:r>
          </a:p>
        </p:txBody>
      </p:sp>
      <p:sp>
        <p:nvSpPr>
          <p:cNvPr id="38" name="Rectangle 37"/>
          <p:cNvSpPr/>
          <p:nvPr/>
        </p:nvSpPr>
        <p:spPr>
          <a:xfrm>
            <a:off x="411480" y="469087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4690872"/>
            <a:ext cx="502920" cy="96012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85546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#4</a:t>
            </a:r>
          </a:p>
        </p:txBody>
      </p:sp>
      <p:sp>
        <p:nvSpPr>
          <p:cNvPr id="41" name="TextBox 40"/>
          <p:cNvSpPr txBox="1"/>
          <p:nvPr/>
        </p:nvSpPr>
        <p:spPr>
          <a:xfrm>
            <a:off x="411480" y="525780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42" name="TextBox 41"/>
          <p:cNvSpPr txBox="1"/>
          <p:nvPr/>
        </p:nvSpPr>
        <p:spPr>
          <a:xfrm>
            <a:off x="1051560" y="474573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House Agriculture leaders urge Trump to fill CFTC seats before CLARITY Ac…</a:t>
            </a:r>
          </a:p>
          <a:p>
            <a:pPr algn="l"/>
            <a:r>
              <a:rPr sz="850" b="1">
                <a:solidFill>
                  <a:srgbClr val="FFC107"/>
                </a:solidFill>
                <a:latin typeface="Yu Gothic UI"/>
              </a:rPr>
              <a:t>Crypto Briefing  ·  20:06  ·  規制・政策</a:t>
            </a:r>
          </a:p>
          <a:p>
            <a:pPr algn="l"/>
            <a:r>
              <a:rPr sz="900" b="0">
                <a:solidFill>
                  <a:srgbClr val="9AA8C4"/>
                </a:solidFill>
                <a:latin typeface="Yu Gothic UI"/>
              </a:rPr>
              <a:t>The CFTC's understaffing risks delaying effective crypto regulation, potentially undermining US leadership in digital asset over…</a:t>
            </a:r>
          </a:p>
        </p:txBody>
      </p:sp>
      <p:sp>
        <p:nvSpPr>
          <p:cNvPr id="43" name="Rectangle 42"/>
          <p:cNvSpPr/>
          <p:nvPr/>
        </p:nvSpPr>
        <p:spPr>
          <a:xfrm>
            <a:off x="411480" y="5696712"/>
            <a:ext cx="6446520" cy="960120"/>
          </a:xfrm>
          <a:prstGeom prst="rect">
            <a:avLst/>
          </a:prstGeom>
          <a:solidFill>
            <a:srgbClr val="1A294F"/>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96712"/>
            <a:ext cx="502920" cy="960120"/>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861304"/>
            <a:ext cx="502920" cy="365760"/>
          </a:xfrm>
          <a:prstGeom prst="rect">
            <a:avLst/>
          </a:prstGeom>
          <a:noFill/>
        </p:spPr>
        <p:txBody>
          <a:bodyPr wrap="square" lIns="36000" rIns="36000" tIns="18000" bIns="18000" anchor="t">
            <a:spAutoFit/>
          </a:bodyPr>
          <a:lstStyle/>
          <a:p>
            <a:pPr algn="ctr"/>
            <a:r>
              <a:rPr sz="2000" b="1">
                <a:solidFill>
                  <a:srgbClr val="0B142A"/>
                </a:solidFill>
                <a:latin typeface="Yu Gothic UI"/>
              </a:rPr>
              <a:t>#5</a:t>
            </a:r>
          </a:p>
        </p:txBody>
      </p:sp>
      <p:sp>
        <p:nvSpPr>
          <p:cNvPr id="46" name="TextBox 45"/>
          <p:cNvSpPr txBox="1"/>
          <p:nvPr/>
        </p:nvSpPr>
        <p:spPr>
          <a:xfrm>
            <a:off x="411480" y="6263640"/>
            <a:ext cx="502920" cy="274320"/>
          </a:xfrm>
          <a:prstGeom prst="rect">
            <a:avLst/>
          </a:prstGeom>
          <a:noFill/>
        </p:spPr>
        <p:txBody>
          <a:bodyPr wrap="square" lIns="36000" rIns="36000" tIns="18000" bIns="18000" anchor="t">
            <a:spAutoFit/>
          </a:bodyPr>
          <a:lstStyle/>
          <a:p>
            <a:pPr algn="ctr"/>
            <a:r>
              <a:rPr sz="800" b="1">
                <a:solidFill>
                  <a:srgbClr val="0B142A"/>
                </a:solidFill>
                <a:latin typeface="Yu Gothic UI"/>
              </a:rPr>
              <a:t>海外</a:t>
            </a:r>
          </a:p>
        </p:txBody>
      </p:sp>
      <p:sp>
        <p:nvSpPr>
          <p:cNvPr id="47" name="TextBox 46"/>
          <p:cNvSpPr txBox="1"/>
          <p:nvPr/>
        </p:nvSpPr>
        <p:spPr>
          <a:xfrm>
            <a:off x="1051560" y="5751576"/>
            <a:ext cx="5715000" cy="850392"/>
          </a:xfrm>
          <a:prstGeom prst="rect">
            <a:avLst/>
          </a:prstGeom>
          <a:noFill/>
        </p:spPr>
        <p:txBody>
          <a:bodyPr wrap="square" lIns="36000" rIns="36000" tIns="18000" bIns="18000" anchor="t">
            <a:spAutoFit/>
          </a:bodyPr>
          <a:lstStyle/>
          <a:p>
            <a:pPr algn="l"/>
            <a:r>
              <a:rPr sz="1200" b="1">
                <a:solidFill>
                  <a:srgbClr val="E6EDF7"/>
                </a:solidFill>
                <a:latin typeface="Yu Gothic UI"/>
              </a:rPr>
              <a:t>House Agriculture leaders press Trump to appoint CFTC commissioners as CL…</a:t>
            </a:r>
          </a:p>
          <a:p>
            <a:pPr algn="l"/>
            <a:r>
              <a:rPr sz="850" b="1">
                <a:solidFill>
                  <a:srgbClr val="4AE3A3"/>
                </a:solidFill>
                <a:latin typeface="Yu Gothic UI"/>
              </a:rPr>
              <a:t>The Block  ·  05:57  ·  規制・政策</a:t>
            </a:r>
          </a:p>
          <a:p>
            <a:pPr algn="l"/>
            <a:r>
              <a:rPr sz="900" b="0">
                <a:solidFill>
                  <a:srgbClr val="9AA8C4"/>
                </a:solidFill>
                <a:latin typeface="Yu Gothic UI"/>
              </a:rPr>
              <a:t>Chair Michael Selig has been the agency's sole commissioner since December, with four seats sitting empty, as Trump has not nomi…</a:t>
            </a:r>
          </a:p>
        </p:txBody>
      </p:sp>
      <p:sp>
        <p:nvSpPr>
          <p:cNvPr id="48" name="Rectangle 47"/>
          <p:cNvSpPr/>
          <p:nvPr/>
        </p:nvSpPr>
        <p:spPr>
          <a:xfrm>
            <a:off x="7132320" y="960120"/>
            <a:ext cx="4828032" cy="21945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32320" y="960120"/>
            <a:ext cx="91440" cy="21945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1005840"/>
            <a:ext cx="4828032" cy="320040"/>
          </a:xfrm>
          <a:prstGeom prst="rect">
            <a:avLst/>
          </a:prstGeom>
          <a:noFill/>
        </p:spPr>
        <p:txBody>
          <a:bodyPr wrap="square" lIns="36000" rIns="36000" tIns="18000" bIns="18000" anchor="t">
            <a:spAutoFit/>
          </a:bodyPr>
          <a:lstStyle/>
          <a:p>
            <a:pPr algn="l"/>
            <a:r>
              <a:rPr sz="1200" b="1">
                <a:solidFill>
                  <a:srgbClr val="00E5FF"/>
                </a:solidFill>
                <a:latin typeface="Yu Gothic UI"/>
              </a:rPr>
              <a:t>■ カテゴリ別 分布</a:t>
            </a:r>
          </a:p>
        </p:txBody>
      </p:sp>
      <p:sp>
        <p:nvSpPr>
          <p:cNvPr id="51" name="Rectangle 50"/>
          <p:cNvSpPr/>
          <p:nvPr/>
        </p:nvSpPr>
        <p:spPr>
          <a:xfrm>
            <a:off x="7315200" y="1426464"/>
            <a:ext cx="109728"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137160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規制・政策</a:t>
            </a:r>
          </a:p>
        </p:txBody>
      </p:sp>
      <p:sp>
        <p:nvSpPr>
          <p:cNvPr id="53" name="TextBox 52"/>
          <p:cNvSpPr txBox="1"/>
          <p:nvPr/>
        </p:nvSpPr>
        <p:spPr>
          <a:xfrm>
            <a:off x="8869680" y="1371600"/>
            <a:ext cx="548640" cy="210312"/>
          </a:xfrm>
          <a:prstGeom prst="rect">
            <a:avLst/>
          </a:prstGeom>
          <a:noFill/>
        </p:spPr>
        <p:txBody>
          <a:bodyPr wrap="square" lIns="36000" rIns="36000" tIns="18000" bIns="18000" anchor="t">
            <a:spAutoFit/>
          </a:bodyPr>
          <a:lstStyle/>
          <a:p>
            <a:pPr algn="r"/>
            <a:r>
              <a:rPr sz="900" b="1">
                <a:solidFill>
                  <a:srgbClr val="FFC107"/>
                </a:solidFill>
                <a:latin typeface="Yu Gothic UI"/>
              </a:rPr>
              <a:t>60</a:t>
            </a:r>
          </a:p>
        </p:txBody>
      </p:sp>
      <p:sp>
        <p:nvSpPr>
          <p:cNvPr id="54" name="Rectangle 53"/>
          <p:cNvSpPr/>
          <p:nvPr/>
        </p:nvSpPr>
        <p:spPr>
          <a:xfrm>
            <a:off x="7315200" y="1636776"/>
            <a:ext cx="109728" cy="109728"/>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9792" y="158191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その他</a:t>
            </a:r>
          </a:p>
        </p:txBody>
      </p:sp>
      <p:sp>
        <p:nvSpPr>
          <p:cNvPr id="56" name="TextBox 55"/>
          <p:cNvSpPr txBox="1"/>
          <p:nvPr/>
        </p:nvSpPr>
        <p:spPr>
          <a:xfrm>
            <a:off x="8869680" y="1581912"/>
            <a:ext cx="548640" cy="210312"/>
          </a:xfrm>
          <a:prstGeom prst="rect">
            <a:avLst/>
          </a:prstGeom>
          <a:noFill/>
        </p:spPr>
        <p:txBody>
          <a:bodyPr wrap="square" lIns="36000" rIns="36000" tIns="18000" bIns="18000" anchor="t">
            <a:spAutoFit/>
          </a:bodyPr>
          <a:lstStyle/>
          <a:p>
            <a:pPr algn="r"/>
            <a:r>
              <a:rPr sz="900" b="1">
                <a:solidFill>
                  <a:srgbClr val="9AA8C4"/>
                </a:solidFill>
                <a:latin typeface="Yu Gothic UI"/>
              </a:rPr>
              <a:t>36</a:t>
            </a:r>
          </a:p>
        </p:txBody>
      </p:sp>
      <p:sp>
        <p:nvSpPr>
          <p:cNvPr id="57" name="Rectangle 56"/>
          <p:cNvSpPr/>
          <p:nvPr/>
        </p:nvSpPr>
        <p:spPr>
          <a:xfrm>
            <a:off x="7315200" y="1847088"/>
            <a:ext cx="109728" cy="109728"/>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9792" y="1792224"/>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AI・技術</a:t>
            </a:r>
          </a:p>
        </p:txBody>
      </p:sp>
      <p:sp>
        <p:nvSpPr>
          <p:cNvPr id="59" name="TextBox 58"/>
          <p:cNvSpPr txBox="1"/>
          <p:nvPr/>
        </p:nvSpPr>
        <p:spPr>
          <a:xfrm>
            <a:off x="8869680" y="1792224"/>
            <a:ext cx="548640" cy="210312"/>
          </a:xfrm>
          <a:prstGeom prst="rect">
            <a:avLst/>
          </a:prstGeom>
          <a:noFill/>
        </p:spPr>
        <p:txBody>
          <a:bodyPr wrap="square" lIns="36000" rIns="36000" tIns="18000" bIns="18000" anchor="t">
            <a:spAutoFit/>
          </a:bodyPr>
          <a:lstStyle/>
          <a:p>
            <a:pPr algn="r"/>
            <a:r>
              <a:rPr sz="900" b="1">
                <a:solidFill>
                  <a:srgbClr val="4BC8F0"/>
                </a:solidFill>
                <a:latin typeface="Yu Gothic UI"/>
              </a:rPr>
              <a:t>32</a:t>
            </a:r>
          </a:p>
        </p:txBody>
      </p:sp>
      <p:sp>
        <p:nvSpPr>
          <p:cNvPr id="60" name="Rectangle 59"/>
          <p:cNvSpPr/>
          <p:nvPr/>
        </p:nvSpPr>
        <p:spPr>
          <a:xfrm>
            <a:off x="7315200" y="2057400"/>
            <a:ext cx="109728" cy="10972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9792" y="2002536"/>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ETF・機関</a:t>
            </a:r>
          </a:p>
        </p:txBody>
      </p:sp>
      <p:sp>
        <p:nvSpPr>
          <p:cNvPr id="62" name="TextBox 61"/>
          <p:cNvSpPr txBox="1"/>
          <p:nvPr/>
        </p:nvSpPr>
        <p:spPr>
          <a:xfrm>
            <a:off x="8869680" y="2002536"/>
            <a:ext cx="548640" cy="210312"/>
          </a:xfrm>
          <a:prstGeom prst="rect">
            <a:avLst/>
          </a:prstGeom>
          <a:noFill/>
        </p:spPr>
        <p:txBody>
          <a:bodyPr wrap="square" lIns="36000" rIns="36000" tIns="18000" bIns="18000" anchor="t">
            <a:spAutoFit/>
          </a:bodyPr>
          <a:lstStyle/>
          <a:p>
            <a:pPr algn="r"/>
            <a:r>
              <a:rPr sz="900" b="1">
                <a:solidFill>
                  <a:srgbClr val="4AE3A3"/>
                </a:solidFill>
                <a:latin typeface="Yu Gothic UI"/>
              </a:rPr>
              <a:t>27</a:t>
            </a:r>
          </a:p>
        </p:txBody>
      </p:sp>
      <p:sp>
        <p:nvSpPr>
          <p:cNvPr id="63" name="Rectangle 62"/>
          <p:cNvSpPr/>
          <p:nvPr/>
        </p:nvSpPr>
        <p:spPr>
          <a:xfrm>
            <a:off x="7315200" y="2267712"/>
            <a:ext cx="109728" cy="1097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79792" y="2212848"/>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DeFi・L2</a:t>
            </a:r>
          </a:p>
        </p:txBody>
      </p:sp>
      <p:sp>
        <p:nvSpPr>
          <p:cNvPr id="65" name="TextBox 64"/>
          <p:cNvSpPr txBox="1"/>
          <p:nvPr/>
        </p:nvSpPr>
        <p:spPr>
          <a:xfrm>
            <a:off x="8869680" y="2212848"/>
            <a:ext cx="548640" cy="210312"/>
          </a:xfrm>
          <a:prstGeom prst="rect">
            <a:avLst/>
          </a:prstGeom>
          <a:noFill/>
        </p:spPr>
        <p:txBody>
          <a:bodyPr wrap="square" lIns="36000" rIns="36000" tIns="18000" bIns="18000" anchor="t">
            <a:spAutoFit/>
          </a:bodyPr>
          <a:lstStyle/>
          <a:p>
            <a:pPr algn="r"/>
            <a:r>
              <a:rPr sz="900" b="1">
                <a:solidFill>
                  <a:srgbClr val="9B59E6"/>
                </a:solidFill>
                <a:latin typeface="Yu Gothic UI"/>
              </a:rPr>
              <a:t>20</a:t>
            </a:r>
          </a:p>
        </p:txBody>
      </p:sp>
      <p:sp>
        <p:nvSpPr>
          <p:cNvPr id="66" name="Rectangle 65"/>
          <p:cNvSpPr/>
          <p:nvPr/>
        </p:nvSpPr>
        <p:spPr>
          <a:xfrm>
            <a:off x="7315200" y="2478024"/>
            <a:ext cx="109728" cy="109728"/>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79792" y="2423160"/>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ステーブルコイン</a:t>
            </a:r>
          </a:p>
        </p:txBody>
      </p:sp>
      <p:sp>
        <p:nvSpPr>
          <p:cNvPr id="68" name="TextBox 67"/>
          <p:cNvSpPr txBox="1"/>
          <p:nvPr/>
        </p:nvSpPr>
        <p:spPr>
          <a:xfrm>
            <a:off x="8869680" y="2423160"/>
            <a:ext cx="548640" cy="210312"/>
          </a:xfrm>
          <a:prstGeom prst="rect">
            <a:avLst/>
          </a:prstGeom>
          <a:noFill/>
        </p:spPr>
        <p:txBody>
          <a:bodyPr wrap="square" lIns="36000" rIns="36000" tIns="18000" bIns="18000" anchor="t">
            <a:spAutoFit/>
          </a:bodyPr>
          <a:lstStyle/>
          <a:p>
            <a:pPr algn="r"/>
            <a:r>
              <a:rPr sz="900" b="1">
                <a:solidFill>
                  <a:srgbClr val="6E8BFF"/>
                </a:solidFill>
                <a:latin typeface="Yu Gothic UI"/>
              </a:rPr>
              <a:t>11</a:t>
            </a:r>
          </a:p>
        </p:txBody>
      </p:sp>
      <p:sp>
        <p:nvSpPr>
          <p:cNvPr id="69" name="Rectangle 68"/>
          <p:cNvSpPr/>
          <p:nvPr/>
        </p:nvSpPr>
        <p:spPr>
          <a:xfrm>
            <a:off x="7315200" y="2688336"/>
            <a:ext cx="109728" cy="1097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79792" y="2633472"/>
            <a:ext cx="1463040" cy="210312"/>
          </a:xfrm>
          <a:prstGeom prst="rect">
            <a:avLst/>
          </a:prstGeom>
          <a:noFill/>
        </p:spPr>
        <p:txBody>
          <a:bodyPr wrap="square" lIns="36000" rIns="36000" tIns="18000" bIns="18000" anchor="t">
            <a:spAutoFit/>
          </a:bodyPr>
          <a:lstStyle/>
          <a:p>
            <a:pPr algn="l"/>
            <a:r>
              <a:rPr sz="900" b="0">
                <a:solidFill>
                  <a:srgbClr val="E6EDF7"/>
                </a:solidFill>
                <a:latin typeface="Yu Gothic UI"/>
              </a:rPr>
              <a:t>国内企業</a:t>
            </a:r>
          </a:p>
        </p:txBody>
      </p:sp>
      <p:sp>
        <p:nvSpPr>
          <p:cNvPr id="71" name="TextBox 70"/>
          <p:cNvSpPr txBox="1"/>
          <p:nvPr/>
        </p:nvSpPr>
        <p:spPr>
          <a:xfrm>
            <a:off x="8869680" y="2633472"/>
            <a:ext cx="548640" cy="210312"/>
          </a:xfrm>
          <a:prstGeom prst="rect">
            <a:avLst/>
          </a:prstGeom>
          <a:noFill/>
        </p:spPr>
        <p:txBody>
          <a:bodyPr wrap="square" lIns="36000" rIns="36000" tIns="18000" bIns="18000" anchor="t">
            <a:spAutoFit/>
          </a:bodyPr>
          <a:lstStyle/>
          <a:p>
            <a:pPr algn="r"/>
            <a:r>
              <a:rPr sz="900" b="1">
                <a:solidFill>
                  <a:srgbClr val="00E5FF"/>
                </a:solidFill>
                <a:latin typeface="Yu Gothic UI"/>
              </a:rPr>
              <a:t>9</a:t>
            </a:r>
          </a:p>
        </p:txBody>
      </p:sp>
      <p:sp>
        <p:nvSpPr>
          <p:cNvPr id="72" name="TextBox 71"/>
          <p:cNvSpPr txBox="1"/>
          <p:nvPr/>
        </p:nvSpPr>
        <p:spPr>
          <a:xfrm>
            <a:off x="9738360" y="1234440"/>
            <a:ext cx="1993392" cy="201168"/>
          </a:xfrm>
          <a:prstGeom prst="rect">
            <a:avLst/>
          </a:prstGeom>
          <a:noFill/>
        </p:spPr>
        <p:txBody>
          <a:bodyPr wrap="square" lIns="36000" rIns="36000" tIns="18000" bIns="18000" anchor="t">
            <a:spAutoFit/>
          </a:bodyPr>
          <a:lstStyle/>
          <a:p>
            <a:pPr algn="l"/>
            <a:r>
              <a:rPr sz="900" b="0">
                <a:solidFill>
                  <a:srgbClr val="9AA8C4"/>
                </a:solidFill>
                <a:latin typeface="Yu Gothic UI"/>
              </a:rPr>
              <a:t>比率</a:t>
            </a:r>
          </a:p>
        </p:txBody>
      </p:sp>
      <p:sp>
        <p:nvSpPr>
          <p:cNvPr id="73" name="Rectangle 72"/>
          <p:cNvSpPr/>
          <p:nvPr/>
        </p:nvSpPr>
        <p:spPr>
          <a:xfrm>
            <a:off x="9738360" y="1463040"/>
            <a:ext cx="1993392" cy="406886"/>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1481328"/>
            <a:ext cx="1901952" cy="370310"/>
          </a:xfrm>
          <a:prstGeom prst="rect">
            <a:avLst/>
          </a:prstGeom>
          <a:noFill/>
        </p:spPr>
        <p:txBody>
          <a:bodyPr wrap="square" lIns="36000" rIns="36000" tIns="18000" bIns="18000" anchor="t">
            <a:spAutoFit/>
          </a:bodyPr>
          <a:lstStyle/>
          <a:p>
            <a:pPr algn="l"/>
            <a:r>
              <a:rPr sz="800" b="1">
                <a:solidFill>
                  <a:srgbClr val="0B142A"/>
                </a:solidFill>
                <a:latin typeface="Yu Gothic UI"/>
              </a:rPr>
              <a:t>規制・政策 29%</a:t>
            </a:r>
          </a:p>
        </p:txBody>
      </p:sp>
      <p:sp>
        <p:nvSpPr>
          <p:cNvPr id="75" name="Rectangle 74"/>
          <p:cNvSpPr/>
          <p:nvPr/>
        </p:nvSpPr>
        <p:spPr>
          <a:xfrm>
            <a:off x="9738360" y="1869926"/>
            <a:ext cx="1993392" cy="244131"/>
          </a:xfrm>
          <a:prstGeom prst="rect">
            <a:avLst/>
          </a:prstGeom>
          <a:solidFill>
            <a:srgbClr val="9AA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84080" y="1888214"/>
            <a:ext cx="1901952" cy="207555"/>
          </a:xfrm>
          <a:prstGeom prst="rect">
            <a:avLst/>
          </a:prstGeom>
          <a:noFill/>
        </p:spPr>
        <p:txBody>
          <a:bodyPr wrap="square" lIns="36000" rIns="36000" tIns="18000" bIns="18000" anchor="t">
            <a:spAutoFit/>
          </a:bodyPr>
          <a:lstStyle/>
          <a:p>
            <a:pPr algn="l"/>
            <a:r>
              <a:rPr sz="800" b="1">
                <a:solidFill>
                  <a:srgbClr val="0B142A"/>
                </a:solidFill>
                <a:latin typeface="Yu Gothic UI"/>
              </a:rPr>
              <a:t>その他 17%</a:t>
            </a:r>
          </a:p>
        </p:txBody>
      </p:sp>
      <p:sp>
        <p:nvSpPr>
          <p:cNvPr id="77" name="Rectangle 76"/>
          <p:cNvSpPr/>
          <p:nvPr/>
        </p:nvSpPr>
        <p:spPr>
          <a:xfrm>
            <a:off x="9738360" y="2114057"/>
            <a:ext cx="1993392" cy="217005"/>
          </a:xfrm>
          <a:prstGeom prst="rect">
            <a:avLst/>
          </a:prstGeom>
          <a:solidFill>
            <a:srgbClr val="4B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84080" y="2132345"/>
            <a:ext cx="1901952" cy="180429"/>
          </a:xfrm>
          <a:prstGeom prst="rect">
            <a:avLst/>
          </a:prstGeom>
          <a:noFill/>
        </p:spPr>
        <p:txBody>
          <a:bodyPr wrap="square" lIns="36000" rIns="36000" tIns="18000" bIns="18000" anchor="t">
            <a:spAutoFit/>
          </a:bodyPr>
          <a:lstStyle/>
          <a:p>
            <a:pPr algn="l"/>
            <a:r>
              <a:rPr sz="800" b="1">
                <a:solidFill>
                  <a:srgbClr val="0B142A"/>
                </a:solidFill>
                <a:latin typeface="Yu Gothic UI"/>
              </a:rPr>
              <a:t>AI・技術 15%</a:t>
            </a:r>
          </a:p>
        </p:txBody>
      </p:sp>
      <p:sp>
        <p:nvSpPr>
          <p:cNvPr id="79" name="Rectangle 78"/>
          <p:cNvSpPr/>
          <p:nvPr/>
        </p:nvSpPr>
        <p:spPr>
          <a:xfrm>
            <a:off x="9738360" y="2331063"/>
            <a:ext cx="1993392" cy="183098"/>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784080" y="2349351"/>
            <a:ext cx="1901952" cy="146522"/>
          </a:xfrm>
          <a:prstGeom prst="rect">
            <a:avLst/>
          </a:prstGeom>
          <a:noFill/>
        </p:spPr>
        <p:txBody>
          <a:bodyPr wrap="square" lIns="36000" rIns="36000" tIns="18000" bIns="18000" anchor="t">
            <a:spAutoFit/>
          </a:bodyPr>
          <a:lstStyle/>
          <a:p>
            <a:pPr algn="l"/>
            <a:r>
              <a:rPr sz="800" b="1">
                <a:solidFill>
                  <a:srgbClr val="0B142A"/>
                </a:solidFill>
                <a:latin typeface="Yu Gothic UI"/>
              </a:rPr>
              <a:t>ETF・機関 13%</a:t>
            </a:r>
          </a:p>
        </p:txBody>
      </p:sp>
      <p:sp>
        <p:nvSpPr>
          <p:cNvPr id="81" name="Rectangle 80"/>
          <p:cNvSpPr/>
          <p:nvPr/>
        </p:nvSpPr>
        <p:spPr>
          <a:xfrm>
            <a:off x="9738360" y="2514162"/>
            <a:ext cx="1993392" cy="135628"/>
          </a:xfrm>
          <a:prstGeom prst="rect">
            <a:avLst/>
          </a:prstGeom>
          <a:solidFill>
            <a:srgbClr val="9B5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38360" y="2649791"/>
            <a:ext cx="1993392" cy="74595"/>
          </a:xfrm>
          <a:prstGeom prst="rect">
            <a:avLst/>
          </a:prstGeom>
          <a:solidFill>
            <a:srgbClr val="6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738360" y="2724386"/>
            <a:ext cx="1993392" cy="610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738360" y="2785419"/>
            <a:ext cx="1993392" cy="47470"/>
          </a:xfrm>
          <a:prstGeom prst="rect">
            <a:avLst/>
          </a:prstGeom>
          <a:solidFill>
            <a:srgbClr val="FF6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132320" y="3218688"/>
            <a:ext cx="4828032" cy="1508760"/>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132320" y="3218688"/>
            <a:ext cx="91440" cy="15087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15200" y="3264408"/>
            <a:ext cx="4828032" cy="274320"/>
          </a:xfrm>
          <a:prstGeom prst="rect">
            <a:avLst/>
          </a:prstGeom>
          <a:noFill/>
        </p:spPr>
        <p:txBody>
          <a:bodyPr wrap="square" lIns="36000" rIns="36000" tIns="18000" bIns="18000" anchor="t">
            <a:spAutoFit/>
          </a:bodyPr>
          <a:lstStyle/>
          <a:p>
            <a:pPr algn="l"/>
            <a:r>
              <a:rPr sz="1200" b="1">
                <a:solidFill>
                  <a:srgbClr val="FFC107"/>
                </a:solidFill>
                <a:latin typeface="Yu Gothic UI"/>
              </a:rPr>
              <a:t>■ メディア発信ランキング</a:t>
            </a:r>
          </a:p>
        </p:txBody>
      </p:sp>
      <p:sp>
        <p:nvSpPr>
          <p:cNvPr id="88" name="TextBox 87"/>
          <p:cNvSpPr txBox="1"/>
          <p:nvPr/>
        </p:nvSpPr>
        <p:spPr>
          <a:xfrm>
            <a:off x="7360920" y="360273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Crypto Briefing</a:t>
            </a:r>
          </a:p>
        </p:txBody>
      </p:sp>
      <p:sp>
        <p:nvSpPr>
          <p:cNvPr id="89" name="Rectangle 88"/>
          <p:cNvSpPr/>
          <p:nvPr/>
        </p:nvSpPr>
        <p:spPr>
          <a:xfrm>
            <a:off x="9601200" y="363931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601200" y="3639312"/>
            <a:ext cx="1828800"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475720" y="360273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39</a:t>
            </a:r>
          </a:p>
        </p:txBody>
      </p:sp>
      <p:sp>
        <p:nvSpPr>
          <p:cNvPr id="92" name="TextBox 91"/>
          <p:cNvSpPr txBox="1"/>
          <p:nvPr/>
        </p:nvSpPr>
        <p:spPr>
          <a:xfrm>
            <a:off x="7360920" y="3767328"/>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Cointelegraph</a:t>
            </a:r>
          </a:p>
        </p:txBody>
      </p:sp>
      <p:sp>
        <p:nvSpPr>
          <p:cNvPr id="93" name="Rectangle 92"/>
          <p:cNvSpPr/>
          <p:nvPr/>
        </p:nvSpPr>
        <p:spPr>
          <a:xfrm>
            <a:off x="9601200" y="3803904"/>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601200" y="3803904"/>
            <a:ext cx="1406769"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475720" y="3767328"/>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30</a:t>
            </a:r>
          </a:p>
        </p:txBody>
      </p:sp>
      <p:sp>
        <p:nvSpPr>
          <p:cNvPr id="96" name="TextBox 95"/>
          <p:cNvSpPr txBox="1"/>
          <p:nvPr/>
        </p:nvSpPr>
        <p:spPr>
          <a:xfrm>
            <a:off x="7360920" y="3931920"/>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Pypi.org</a:t>
            </a:r>
          </a:p>
        </p:txBody>
      </p:sp>
      <p:sp>
        <p:nvSpPr>
          <p:cNvPr id="97" name="Rectangle 96"/>
          <p:cNvSpPr/>
          <p:nvPr/>
        </p:nvSpPr>
        <p:spPr>
          <a:xfrm>
            <a:off x="9601200" y="3968496"/>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601200" y="3968496"/>
            <a:ext cx="1125415"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475720" y="3931920"/>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24</a:t>
            </a:r>
          </a:p>
        </p:txBody>
      </p:sp>
      <p:sp>
        <p:nvSpPr>
          <p:cNvPr id="100" name="TextBox 99"/>
          <p:cNvSpPr txBox="1"/>
          <p:nvPr/>
        </p:nvSpPr>
        <p:spPr>
          <a:xfrm>
            <a:off x="7360920" y="4096512"/>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a:t>
            </a:r>
          </a:p>
        </p:txBody>
      </p:sp>
      <p:sp>
        <p:nvSpPr>
          <p:cNvPr id="101" name="Rectangle 100"/>
          <p:cNvSpPr/>
          <p:nvPr/>
        </p:nvSpPr>
        <p:spPr>
          <a:xfrm>
            <a:off x="9601200" y="4133088"/>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601200" y="4133088"/>
            <a:ext cx="937846"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475720" y="4096512"/>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20</a:t>
            </a:r>
          </a:p>
        </p:txBody>
      </p:sp>
      <p:sp>
        <p:nvSpPr>
          <p:cNvPr id="104" name="TextBox 103"/>
          <p:cNvSpPr txBox="1"/>
          <p:nvPr/>
        </p:nvSpPr>
        <p:spPr>
          <a:xfrm>
            <a:off x="7360920" y="4261104"/>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The Block</a:t>
            </a:r>
          </a:p>
        </p:txBody>
      </p:sp>
      <p:sp>
        <p:nvSpPr>
          <p:cNvPr id="105" name="Rectangle 104"/>
          <p:cNvSpPr/>
          <p:nvPr/>
        </p:nvSpPr>
        <p:spPr>
          <a:xfrm>
            <a:off x="9601200" y="4297680"/>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601200" y="4297680"/>
            <a:ext cx="797169"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475720" y="4261104"/>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17</a:t>
            </a:r>
          </a:p>
        </p:txBody>
      </p:sp>
      <p:sp>
        <p:nvSpPr>
          <p:cNvPr id="108" name="TextBox 107"/>
          <p:cNvSpPr txBox="1"/>
          <p:nvPr/>
        </p:nvSpPr>
        <p:spPr>
          <a:xfrm>
            <a:off x="7360920" y="4425696"/>
            <a:ext cx="2194560" cy="164592"/>
          </a:xfrm>
          <a:prstGeom prst="rect">
            <a:avLst/>
          </a:prstGeom>
          <a:noFill/>
        </p:spPr>
        <p:txBody>
          <a:bodyPr wrap="square" lIns="36000" rIns="36000" tIns="18000" bIns="18000" anchor="t">
            <a:spAutoFit/>
          </a:bodyPr>
          <a:lstStyle/>
          <a:p>
            <a:pPr algn="l"/>
            <a:r>
              <a:rPr sz="900" b="0">
                <a:solidFill>
                  <a:srgbClr val="E6EDF7"/>
                </a:solidFill>
                <a:latin typeface="Yu Gothic UI"/>
              </a:rPr>
              <a:t>CoinDesk Japan</a:t>
            </a:r>
          </a:p>
        </p:txBody>
      </p:sp>
      <p:sp>
        <p:nvSpPr>
          <p:cNvPr id="109" name="Rectangle 108"/>
          <p:cNvSpPr/>
          <p:nvPr/>
        </p:nvSpPr>
        <p:spPr>
          <a:xfrm>
            <a:off x="9601200" y="4462272"/>
            <a:ext cx="1828800" cy="91440"/>
          </a:xfrm>
          <a:prstGeom prst="rect">
            <a:avLst/>
          </a:prstGeom>
          <a:solidFill>
            <a:srgbClr val="1A2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601200" y="4462272"/>
            <a:ext cx="703384" cy="9144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475720" y="4425696"/>
            <a:ext cx="365760" cy="164592"/>
          </a:xfrm>
          <a:prstGeom prst="rect">
            <a:avLst/>
          </a:prstGeom>
          <a:noFill/>
        </p:spPr>
        <p:txBody>
          <a:bodyPr wrap="square" lIns="36000" rIns="36000" tIns="18000" bIns="18000" anchor="t">
            <a:spAutoFit/>
          </a:bodyPr>
          <a:lstStyle/>
          <a:p>
            <a:pPr algn="l"/>
            <a:r>
              <a:rPr sz="900" b="1">
                <a:solidFill>
                  <a:srgbClr val="FFC107"/>
                </a:solidFill>
                <a:latin typeface="Yu Gothic UI"/>
              </a:rPr>
              <a:t>15</a:t>
            </a:r>
          </a:p>
        </p:txBody>
      </p:sp>
      <p:sp>
        <p:nvSpPr>
          <p:cNvPr id="112" name="Rectangle 111"/>
          <p:cNvSpPr/>
          <p:nvPr/>
        </p:nvSpPr>
        <p:spPr>
          <a:xfrm>
            <a:off x="7132320" y="4791456"/>
            <a:ext cx="4828032" cy="1929384"/>
          </a:xfrm>
          <a:prstGeom prst="rect">
            <a:avLst/>
          </a:prstGeom>
          <a:solidFill>
            <a:srgbClr val="121E3D"/>
          </a:solidFill>
          <a:ln w="9525">
            <a:solidFill>
              <a:srgbClr val="27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132320" y="4791456"/>
            <a:ext cx="91440" cy="1929384"/>
          </a:xfrm>
          <a:prstGeom prst="rect">
            <a:avLst/>
          </a:prstGeom>
          <a:solidFill>
            <a:srgbClr val="4AE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315200" y="4837176"/>
            <a:ext cx="4828032" cy="274320"/>
          </a:xfrm>
          <a:prstGeom prst="rect">
            <a:avLst/>
          </a:prstGeom>
          <a:noFill/>
        </p:spPr>
        <p:txBody>
          <a:bodyPr wrap="square" lIns="36000" rIns="36000" tIns="18000" bIns="18000" anchor="t">
            <a:spAutoFit/>
          </a:bodyPr>
          <a:lstStyle/>
          <a:p>
            <a:pPr algn="l"/>
            <a:r>
              <a:rPr sz="1200" b="1">
                <a:solidFill>
                  <a:srgbClr val="4AE3A3"/>
                </a:solidFill>
                <a:latin typeface="Yu Gothic UI"/>
              </a:rPr>
              <a:t>■ 注目キーワード</a:t>
            </a:r>
          </a:p>
        </p:txBody>
      </p:sp>
      <p:sp>
        <p:nvSpPr>
          <p:cNvPr id="115" name="Rounded Rectangle 114"/>
          <p:cNvSpPr/>
          <p:nvPr/>
        </p:nvSpPr>
        <p:spPr>
          <a:xfrm>
            <a:off x="7360920" y="5157216"/>
            <a:ext cx="649224" cy="237744"/>
          </a:xfrm>
          <a:prstGeom prst="roundRect">
            <a:avLst/>
          </a:prstGeom>
          <a:solidFill>
            <a:srgbClr val="1A294F"/>
          </a:solidFill>
          <a:ln w="9525">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06640" y="5175504"/>
            <a:ext cx="557784" cy="201168"/>
          </a:xfrm>
          <a:prstGeom prst="rect">
            <a:avLst/>
          </a:prstGeom>
          <a:noFill/>
        </p:spPr>
        <p:txBody>
          <a:bodyPr wrap="square" lIns="36000" rIns="36000" tIns="18000" bIns="18000" anchor="t">
            <a:spAutoFit/>
          </a:bodyPr>
          <a:lstStyle/>
          <a:p>
            <a:pPr algn="ctr"/>
            <a:r>
              <a:rPr sz="1400" b="1">
                <a:solidFill>
                  <a:srgbClr val="00E5FF"/>
                </a:solidFill>
                <a:latin typeface="Yu Gothic UI"/>
              </a:rPr>
              <a:t>AI 116</a:t>
            </a:r>
          </a:p>
        </p:txBody>
      </p:sp>
      <p:sp>
        <p:nvSpPr>
          <p:cNvPr id="117" name="Rounded Rectangle 116"/>
          <p:cNvSpPr/>
          <p:nvPr/>
        </p:nvSpPr>
        <p:spPr>
          <a:xfrm>
            <a:off x="8065008"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110728" y="5175504"/>
            <a:ext cx="64922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ETF 35</a:t>
            </a:r>
          </a:p>
        </p:txBody>
      </p:sp>
      <p:sp>
        <p:nvSpPr>
          <p:cNvPr id="119" name="Rounded Rectangle 118"/>
          <p:cNvSpPr/>
          <p:nvPr/>
        </p:nvSpPr>
        <p:spPr>
          <a:xfrm>
            <a:off x="8860536" y="515721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906256" y="5175504"/>
            <a:ext cx="83210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Trump 22</a:t>
            </a:r>
          </a:p>
        </p:txBody>
      </p:sp>
      <p:sp>
        <p:nvSpPr>
          <p:cNvPr id="121" name="Rounded Rectangle 120"/>
          <p:cNvSpPr/>
          <p:nvPr/>
        </p:nvSpPr>
        <p:spPr>
          <a:xfrm>
            <a:off x="9838944"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884664" y="5175504"/>
            <a:ext cx="649224" cy="201168"/>
          </a:xfrm>
          <a:prstGeom prst="rect">
            <a:avLst/>
          </a:prstGeom>
          <a:noFill/>
        </p:spPr>
        <p:txBody>
          <a:bodyPr wrap="square" lIns="36000" rIns="36000" tIns="18000" bIns="18000" anchor="t">
            <a:spAutoFit/>
          </a:bodyPr>
          <a:lstStyle/>
          <a:p>
            <a:pPr algn="ctr"/>
            <a:r>
              <a:rPr sz="900" b="1">
                <a:solidFill>
                  <a:srgbClr val="6E8BFF"/>
                </a:solidFill>
                <a:latin typeface="Yu Gothic UI"/>
              </a:rPr>
              <a:t>ANA 21</a:t>
            </a:r>
          </a:p>
        </p:txBody>
      </p:sp>
      <p:sp>
        <p:nvSpPr>
          <p:cNvPr id="123" name="Rounded Rectangle 122"/>
          <p:cNvSpPr/>
          <p:nvPr/>
        </p:nvSpPr>
        <p:spPr>
          <a:xfrm>
            <a:off x="10634472" y="515721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680192" y="517550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SEC 19</a:t>
            </a:r>
          </a:p>
        </p:txBody>
      </p:sp>
      <p:sp>
        <p:nvSpPr>
          <p:cNvPr id="125" name="Rounded Rectangle 124"/>
          <p:cNvSpPr/>
          <p:nvPr/>
        </p:nvSpPr>
        <p:spPr>
          <a:xfrm>
            <a:off x="7360920" y="5431536"/>
            <a:ext cx="11064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406640" y="5449824"/>
            <a:ext cx="10149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CLARITY 19</a:t>
            </a:r>
          </a:p>
        </p:txBody>
      </p:sp>
      <p:sp>
        <p:nvSpPr>
          <p:cNvPr id="127" name="Rounded Rectangle 126"/>
          <p:cNvSpPr/>
          <p:nvPr/>
        </p:nvSpPr>
        <p:spPr>
          <a:xfrm>
            <a:off x="8522208" y="543153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567928" y="544982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SBI 17</a:t>
            </a:r>
          </a:p>
        </p:txBody>
      </p:sp>
      <p:sp>
        <p:nvSpPr>
          <p:cNvPr id="129" name="Rounded Rectangle 128"/>
          <p:cNvSpPr/>
          <p:nvPr/>
        </p:nvSpPr>
        <p:spPr>
          <a:xfrm>
            <a:off x="9317736" y="543153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363456" y="544982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EU 12</a:t>
            </a:r>
          </a:p>
        </p:txBody>
      </p:sp>
      <p:sp>
        <p:nvSpPr>
          <p:cNvPr id="131" name="Rounded Rectangle 130"/>
          <p:cNvSpPr/>
          <p:nvPr/>
        </p:nvSpPr>
        <p:spPr>
          <a:xfrm>
            <a:off x="10021824" y="5431536"/>
            <a:ext cx="1380743"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067544" y="5449824"/>
            <a:ext cx="1289303"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stablecoin 12</a:t>
            </a:r>
          </a:p>
        </p:txBody>
      </p:sp>
      <p:sp>
        <p:nvSpPr>
          <p:cNvPr id="133" name="Rounded Rectangle 132"/>
          <p:cNvSpPr/>
          <p:nvPr/>
        </p:nvSpPr>
        <p:spPr>
          <a:xfrm>
            <a:off x="7360920"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406640"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Base 12</a:t>
            </a:r>
          </a:p>
        </p:txBody>
      </p:sp>
      <p:sp>
        <p:nvSpPr>
          <p:cNvPr id="135" name="Rounded Rectangle 134"/>
          <p:cNvSpPr/>
          <p:nvPr/>
        </p:nvSpPr>
        <p:spPr>
          <a:xfrm>
            <a:off x="8247888" y="5705856"/>
            <a:ext cx="11978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293608" y="5724144"/>
            <a:ext cx="11064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Strategy 11</a:t>
            </a:r>
          </a:p>
        </p:txBody>
      </p:sp>
      <p:sp>
        <p:nvSpPr>
          <p:cNvPr id="137" name="Rounded Rectangle 136"/>
          <p:cNvSpPr/>
          <p:nvPr/>
        </p:nvSpPr>
        <p:spPr>
          <a:xfrm>
            <a:off x="9500616" y="570585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546336" y="572414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DeFi 11</a:t>
            </a:r>
          </a:p>
        </p:txBody>
      </p:sp>
      <p:sp>
        <p:nvSpPr>
          <p:cNvPr id="139" name="Rounded Rectangle 138"/>
          <p:cNvSpPr/>
          <p:nvPr/>
        </p:nvSpPr>
        <p:spPr>
          <a:xfrm>
            <a:off x="10387584" y="5705856"/>
            <a:ext cx="92354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0433304" y="5724144"/>
            <a:ext cx="83210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Layer 11</a:t>
            </a:r>
          </a:p>
        </p:txBody>
      </p:sp>
      <p:sp>
        <p:nvSpPr>
          <p:cNvPr id="141" name="Rounded Rectangle 140"/>
          <p:cNvSpPr/>
          <p:nvPr/>
        </p:nvSpPr>
        <p:spPr>
          <a:xfrm>
            <a:off x="7360920" y="598017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406640" y="599846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IPO 10</a:t>
            </a:r>
          </a:p>
        </p:txBody>
      </p:sp>
      <p:sp>
        <p:nvSpPr>
          <p:cNvPr id="143" name="Rounded Rectangle 142"/>
          <p:cNvSpPr/>
          <p:nvPr/>
        </p:nvSpPr>
        <p:spPr>
          <a:xfrm>
            <a:off x="8156448"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8202168"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MiCA 9</a:t>
            </a:r>
          </a:p>
        </p:txBody>
      </p:sp>
      <p:sp>
        <p:nvSpPr>
          <p:cNvPr id="145" name="Rounded Rectangle 144"/>
          <p:cNvSpPr/>
          <p:nvPr/>
        </p:nvSpPr>
        <p:spPr>
          <a:xfrm>
            <a:off x="9043416" y="5980176"/>
            <a:ext cx="64922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089136" y="5998464"/>
            <a:ext cx="55778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市場 9</a:t>
            </a:r>
          </a:p>
        </p:txBody>
      </p:sp>
      <p:sp>
        <p:nvSpPr>
          <p:cNvPr id="147" name="Rounded Rectangle 146"/>
          <p:cNvSpPr/>
          <p:nvPr/>
        </p:nvSpPr>
        <p:spPr>
          <a:xfrm>
            <a:off x="9747504" y="5980176"/>
            <a:ext cx="83210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9793224" y="5998464"/>
            <a:ext cx="74066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USDC 9</a:t>
            </a:r>
          </a:p>
        </p:txBody>
      </p:sp>
      <p:sp>
        <p:nvSpPr>
          <p:cNvPr id="149" name="Rounded Rectangle 148"/>
          <p:cNvSpPr/>
          <p:nvPr/>
        </p:nvSpPr>
        <p:spPr>
          <a:xfrm>
            <a:off x="10634472" y="5980176"/>
            <a:ext cx="740664" cy="237744"/>
          </a:xfrm>
          <a:prstGeom prst="roundRect">
            <a:avLst/>
          </a:prstGeom>
          <a:solidFill>
            <a:srgbClr val="1A294F"/>
          </a:solidFill>
          <a:ln w="9525">
            <a:solidFill>
              <a:srgbClr val="6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0680192" y="5998464"/>
            <a:ext cx="649224" cy="201168"/>
          </a:xfrm>
          <a:prstGeom prst="rect">
            <a:avLst/>
          </a:prstGeom>
          <a:noFill/>
        </p:spPr>
        <p:txBody>
          <a:bodyPr wrap="square" lIns="36000" rIns="36000" tIns="18000" bIns="18000" anchor="t">
            <a:spAutoFit/>
          </a:bodyPr>
          <a:lstStyle/>
          <a:p>
            <a:pPr algn="ctr"/>
            <a:r>
              <a:rPr sz="800" b="1">
                <a:solidFill>
                  <a:srgbClr val="6E8BFF"/>
                </a:solidFill>
                <a:latin typeface="Yu Gothic UI"/>
              </a:rPr>
              <a:t>ATM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